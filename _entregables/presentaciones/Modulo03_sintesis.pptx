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5"/>
          <c:y val="0.05"/>
          <c:w val="0.9"/>
          <c:h val="0.72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Ingesta habitual actual</c:v>
                </c:pt>
              </c:strCache>
            </c:strRef>
          </c:tx>
          <c:spPr>
            <a:solidFill>
              <a:srgbClr val="5B6B72"/>
            </a:solidFill>
            <a:ln w="31750" cap="flat">
              <a:solidFill>
                <a:srgbClr val="5B6B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6B72"/>
              </a:solidFill>
              <a:ln w="9525" cap="flat">
                <a:solidFill>
                  <a:srgbClr val="5B6B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Sheet1!$A$2:$A$50</c:f>
              <c:multiLvlStrCache>
                <c:ptCount val="49"/>
                <c:lvl>
                  <c:pt idx="0">
                    <c:v>0.0</c:v>
                  </c:pt>
                  <c:pt idx="1">
                    <c:v>0.5</c:v>
                  </c:pt>
                  <c:pt idx="2">
                    <c:v>1.0</c:v>
                  </c:pt>
                  <c:pt idx="3">
                    <c:v>1.5</c:v>
                  </c:pt>
                  <c:pt idx="4">
                    <c:v>2.0</c:v>
                  </c:pt>
                  <c:pt idx="5">
                    <c:v>2.5</c:v>
                  </c:pt>
                  <c:pt idx="6">
                    <c:v>3.0</c:v>
                  </c:pt>
                  <c:pt idx="7">
                    <c:v>3.5</c:v>
                  </c:pt>
                  <c:pt idx="8">
                    <c:v>4.0</c:v>
                  </c:pt>
                  <c:pt idx="9">
                    <c:v>4.5</c:v>
                  </c:pt>
                  <c:pt idx="10">
                    <c:v>5.0</c:v>
                  </c:pt>
                  <c:pt idx="11">
                    <c:v>5.5</c:v>
                  </c:pt>
                  <c:pt idx="12">
                    <c:v>6.0</c:v>
                  </c:pt>
                  <c:pt idx="13">
                    <c:v>6.5</c:v>
                  </c:pt>
                  <c:pt idx="14">
                    <c:v>7.0</c:v>
                  </c:pt>
                  <c:pt idx="15">
                    <c:v>7.5</c:v>
                  </c:pt>
                  <c:pt idx="16">
                    <c:v>8.0</c:v>
                  </c:pt>
                  <c:pt idx="17">
                    <c:v>8.5</c:v>
                  </c:pt>
                  <c:pt idx="18">
                    <c:v>9.0</c:v>
                  </c:pt>
                  <c:pt idx="19">
                    <c:v>9.5</c:v>
                  </c:pt>
                  <c:pt idx="20">
                    <c:v>10.0</c:v>
                  </c:pt>
                  <c:pt idx="21">
                    <c:v>10.5</c:v>
                  </c:pt>
                  <c:pt idx="22">
                    <c:v>11.0</c:v>
                  </c:pt>
                  <c:pt idx="23">
                    <c:v>11.5</c:v>
                  </c:pt>
                  <c:pt idx="24">
                    <c:v>12.0</c:v>
                  </c:pt>
                  <c:pt idx="25">
                    <c:v>12.5</c:v>
                  </c:pt>
                  <c:pt idx="26">
                    <c:v>13.0</c:v>
                  </c:pt>
                  <c:pt idx="27">
                    <c:v>13.5</c:v>
                  </c:pt>
                  <c:pt idx="28">
                    <c:v>14.0</c:v>
                  </c:pt>
                  <c:pt idx="29">
                    <c:v>14.5</c:v>
                  </c:pt>
                  <c:pt idx="30">
                    <c:v>15.0</c:v>
                  </c:pt>
                  <c:pt idx="31">
                    <c:v>15.5</c:v>
                  </c:pt>
                  <c:pt idx="32">
                    <c:v>16.0</c:v>
                  </c:pt>
                  <c:pt idx="33">
                    <c:v>16.5</c:v>
                  </c:pt>
                  <c:pt idx="34">
                    <c:v>17.0</c:v>
                  </c:pt>
                  <c:pt idx="35">
                    <c:v>17.5</c:v>
                  </c:pt>
                  <c:pt idx="36">
                    <c:v>18.0</c:v>
                  </c:pt>
                  <c:pt idx="37">
                    <c:v>18.5</c:v>
                  </c:pt>
                  <c:pt idx="38">
                    <c:v>19.0</c:v>
                  </c:pt>
                  <c:pt idx="39">
                    <c:v>19.5</c:v>
                  </c:pt>
                  <c:pt idx="40">
                    <c:v>20.0</c:v>
                  </c:pt>
                  <c:pt idx="41">
                    <c:v>20.5</c:v>
                  </c:pt>
                  <c:pt idx="42">
                    <c:v>21.0</c:v>
                  </c:pt>
                  <c:pt idx="43">
                    <c:v>21.5</c:v>
                  </c:pt>
                  <c:pt idx="44">
                    <c:v>22.0</c:v>
                  </c:pt>
                  <c:pt idx="45">
                    <c:v>22.5</c:v>
                  </c:pt>
                  <c:pt idx="46">
                    <c:v>23.0</c:v>
                  </c:pt>
                  <c:pt idx="47">
                    <c:v>23.5</c:v>
                  </c:pt>
                  <c:pt idx="48">
                    <c:v>24.0</c:v>
                  </c:pt>
                </c:lvl>
              </c:multiLvlStrCache>
            </c:multiLvl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0.0013</c:v>
                </c:pt>
                <c:pt idx="1">
                  <c:v>0.0024</c:v>
                </c:pt>
                <c:pt idx="2">
                  <c:v>0.0041</c:v>
                </c:pt>
                <c:pt idx="3">
                  <c:v>0.0067</c:v>
                </c:pt>
                <c:pt idx="4">
                  <c:v>0.0107</c:v>
                </c:pt>
                <c:pt idx="5">
                  <c:v>0.0164</c:v>
                </c:pt>
                <c:pt idx="6">
                  <c:v>0.0241</c:v>
                </c:pt>
                <c:pt idx="7">
                  <c:v>0.0343</c:v>
                </c:pt>
                <c:pt idx="8">
                  <c:v>0.047</c:v>
                </c:pt>
                <c:pt idx="9">
                  <c:v>0.062</c:v>
                </c:pt>
                <c:pt idx="10">
                  <c:v>0.0789</c:v>
                </c:pt>
                <c:pt idx="11">
                  <c:v>0.0966</c:v>
                </c:pt>
                <c:pt idx="12">
                  <c:v>0.1141</c:v>
                </c:pt>
                <c:pt idx="13">
                  <c:v>0.1299</c:v>
                </c:pt>
                <c:pt idx="14">
                  <c:v>0.1425</c:v>
                </c:pt>
                <c:pt idx="15">
                  <c:v>0.1506</c:v>
                </c:pt>
                <c:pt idx="16">
                  <c:v>0.1534</c:v>
                </c:pt>
                <c:pt idx="17">
                  <c:v>0.1506</c:v>
                </c:pt>
                <c:pt idx="18">
                  <c:v>0.1425</c:v>
                </c:pt>
                <c:pt idx="19">
                  <c:v>0.1299</c:v>
                </c:pt>
                <c:pt idx="20">
                  <c:v>0.1141</c:v>
                </c:pt>
                <c:pt idx="21">
                  <c:v>0.0966</c:v>
                </c:pt>
                <c:pt idx="22">
                  <c:v>0.0789</c:v>
                </c:pt>
                <c:pt idx="23">
                  <c:v>0.062</c:v>
                </c:pt>
                <c:pt idx="24">
                  <c:v>0.047</c:v>
                </c:pt>
                <c:pt idx="25">
                  <c:v>0.0343</c:v>
                </c:pt>
                <c:pt idx="26">
                  <c:v>0.0241</c:v>
                </c:pt>
                <c:pt idx="27">
                  <c:v>0.0164</c:v>
                </c:pt>
                <c:pt idx="28">
                  <c:v>0.0107</c:v>
                </c:pt>
                <c:pt idx="29">
                  <c:v>0.0067</c:v>
                </c:pt>
                <c:pt idx="30">
                  <c:v>0.0041</c:v>
                </c:pt>
                <c:pt idx="31">
                  <c:v>0.0024</c:v>
                </c:pt>
                <c:pt idx="32">
                  <c:v>0.0013</c:v>
                </c:pt>
                <c:pt idx="33">
                  <c:v>0.0007</c:v>
                </c:pt>
                <c:pt idx="34">
                  <c:v>0.0004</c:v>
                </c:pt>
                <c:pt idx="35">
                  <c:v>0.0002</c:v>
                </c:pt>
                <c:pt idx="36">
                  <c:v>0.0001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Ingesta habitual con fortificación</c:v>
                </c:pt>
              </c:strCache>
            </c:strRef>
          </c:tx>
          <c:spPr>
            <a:solidFill>
              <a:srgbClr val="0B3C49"/>
            </a:solidFill>
            <a:ln w="31750" cap="flat">
              <a:solidFill>
                <a:srgbClr val="0B3C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3C49"/>
              </a:solidFill>
              <a:ln w="9525" cap="flat">
                <a:solidFill>
                  <a:srgbClr val="0B3C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Sheet1!$A$2:$A$50</c:f>
              <c:multiLvlStrCache>
                <c:ptCount val="49"/>
                <c:lvl>
                  <c:pt idx="0">
                    <c:v>0.0</c:v>
                  </c:pt>
                  <c:pt idx="1">
                    <c:v>0.5</c:v>
                  </c:pt>
                  <c:pt idx="2">
                    <c:v>1.0</c:v>
                  </c:pt>
                  <c:pt idx="3">
                    <c:v>1.5</c:v>
                  </c:pt>
                  <c:pt idx="4">
                    <c:v>2.0</c:v>
                  </c:pt>
                  <c:pt idx="5">
                    <c:v>2.5</c:v>
                  </c:pt>
                  <c:pt idx="6">
                    <c:v>3.0</c:v>
                  </c:pt>
                  <c:pt idx="7">
                    <c:v>3.5</c:v>
                  </c:pt>
                  <c:pt idx="8">
                    <c:v>4.0</c:v>
                  </c:pt>
                  <c:pt idx="9">
                    <c:v>4.5</c:v>
                  </c:pt>
                  <c:pt idx="10">
                    <c:v>5.0</c:v>
                  </c:pt>
                  <c:pt idx="11">
                    <c:v>5.5</c:v>
                  </c:pt>
                  <c:pt idx="12">
                    <c:v>6.0</c:v>
                  </c:pt>
                  <c:pt idx="13">
                    <c:v>6.5</c:v>
                  </c:pt>
                  <c:pt idx="14">
                    <c:v>7.0</c:v>
                  </c:pt>
                  <c:pt idx="15">
                    <c:v>7.5</c:v>
                  </c:pt>
                  <c:pt idx="16">
                    <c:v>8.0</c:v>
                  </c:pt>
                  <c:pt idx="17">
                    <c:v>8.5</c:v>
                  </c:pt>
                  <c:pt idx="18">
                    <c:v>9.0</c:v>
                  </c:pt>
                  <c:pt idx="19">
                    <c:v>9.5</c:v>
                  </c:pt>
                  <c:pt idx="20">
                    <c:v>10.0</c:v>
                  </c:pt>
                  <c:pt idx="21">
                    <c:v>10.5</c:v>
                  </c:pt>
                  <c:pt idx="22">
                    <c:v>11.0</c:v>
                  </c:pt>
                  <c:pt idx="23">
                    <c:v>11.5</c:v>
                  </c:pt>
                  <c:pt idx="24">
                    <c:v>12.0</c:v>
                  </c:pt>
                  <c:pt idx="25">
                    <c:v>12.5</c:v>
                  </c:pt>
                  <c:pt idx="26">
                    <c:v>13.0</c:v>
                  </c:pt>
                  <c:pt idx="27">
                    <c:v>13.5</c:v>
                  </c:pt>
                  <c:pt idx="28">
                    <c:v>14.0</c:v>
                  </c:pt>
                  <c:pt idx="29">
                    <c:v>14.5</c:v>
                  </c:pt>
                  <c:pt idx="30">
                    <c:v>15.0</c:v>
                  </c:pt>
                  <c:pt idx="31">
                    <c:v>15.5</c:v>
                  </c:pt>
                  <c:pt idx="32">
                    <c:v>16.0</c:v>
                  </c:pt>
                  <c:pt idx="33">
                    <c:v>16.5</c:v>
                  </c:pt>
                  <c:pt idx="34">
                    <c:v>17.0</c:v>
                  </c:pt>
                  <c:pt idx="35">
                    <c:v>17.5</c:v>
                  </c:pt>
                  <c:pt idx="36">
                    <c:v>18.0</c:v>
                  </c:pt>
                  <c:pt idx="37">
                    <c:v>18.5</c:v>
                  </c:pt>
                  <c:pt idx="38">
                    <c:v>19.0</c:v>
                  </c:pt>
                  <c:pt idx="39">
                    <c:v>19.5</c:v>
                  </c:pt>
                  <c:pt idx="40">
                    <c:v>20.0</c:v>
                  </c:pt>
                  <c:pt idx="41">
                    <c:v>20.5</c:v>
                  </c:pt>
                  <c:pt idx="42">
                    <c:v>21.0</c:v>
                  </c:pt>
                  <c:pt idx="43">
                    <c:v>21.5</c:v>
                  </c:pt>
                  <c:pt idx="44">
                    <c:v>22.0</c:v>
                  </c:pt>
                  <c:pt idx="45">
                    <c:v>22.5</c:v>
                  </c:pt>
                  <c:pt idx="46">
                    <c:v>23.0</c:v>
                  </c:pt>
                  <c:pt idx="47">
                    <c:v>23.5</c:v>
                  </c:pt>
                  <c:pt idx="48">
                    <c:v>24.0</c:v>
                  </c:pt>
                </c:lvl>
              </c:multiLvlStrCache>
            </c:multiLvlStrRef>
          </c:cat>
          <c:val>
            <c:numRef>
              <c:f>Sheet1!$C$2:$C$50</c:f>
              <c:numCache>
                <c:formatCode>General</c:formatCode>
                <c:ptCount val="4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0.0001</c:v>
                </c:pt>
                <c:pt idx="7">
                  <c:v>0.0002</c:v>
                </c:pt>
                <c:pt idx="8">
                  <c:v>0.0004</c:v>
                </c:pt>
                <c:pt idx="9">
                  <c:v>0.0007</c:v>
                </c:pt>
                <c:pt idx="10">
                  <c:v>0.0013</c:v>
                </c:pt>
                <c:pt idx="11">
                  <c:v>0.0024</c:v>
                </c:pt>
                <c:pt idx="12">
                  <c:v>0.0041</c:v>
                </c:pt>
                <c:pt idx="13">
                  <c:v>0.0067</c:v>
                </c:pt>
                <c:pt idx="14">
                  <c:v>0.0107</c:v>
                </c:pt>
                <c:pt idx="15">
                  <c:v>0.0164</c:v>
                </c:pt>
                <c:pt idx="16">
                  <c:v>0.0241</c:v>
                </c:pt>
                <c:pt idx="17">
                  <c:v>0.0343</c:v>
                </c:pt>
                <c:pt idx="18">
                  <c:v>0.047</c:v>
                </c:pt>
                <c:pt idx="19">
                  <c:v>0.062</c:v>
                </c:pt>
                <c:pt idx="20">
                  <c:v>0.0789</c:v>
                </c:pt>
                <c:pt idx="21">
                  <c:v>0.0966</c:v>
                </c:pt>
                <c:pt idx="22">
                  <c:v>0.1141</c:v>
                </c:pt>
                <c:pt idx="23">
                  <c:v>0.1299</c:v>
                </c:pt>
                <c:pt idx="24">
                  <c:v>0.1425</c:v>
                </c:pt>
                <c:pt idx="25">
                  <c:v>0.1506</c:v>
                </c:pt>
                <c:pt idx="26">
                  <c:v>0.1534</c:v>
                </c:pt>
                <c:pt idx="27">
                  <c:v>0.1506</c:v>
                </c:pt>
                <c:pt idx="28">
                  <c:v>0.1425</c:v>
                </c:pt>
                <c:pt idx="29">
                  <c:v>0.1299</c:v>
                </c:pt>
                <c:pt idx="30">
                  <c:v>0.1141</c:v>
                </c:pt>
                <c:pt idx="31">
                  <c:v>0.0966</c:v>
                </c:pt>
                <c:pt idx="32">
                  <c:v>0.0789</c:v>
                </c:pt>
                <c:pt idx="33">
                  <c:v>0.062</c:v>
                </c:pt>
                <c:pt idx="34">
                  <c:v>0.047</c:v>
                </c:pt>
                <c:pt idx="35">
                  <c:v>0.0343</c:v>
                </c:pt>
                <c:pt idx="36">
                  <c:v>0.0241</c:v>
                </c:pt>
                <c:pt idx="37">
                  <c:v>0.0164</c:v>
                </c:pt>
                <c:pt idx="38">
                  <c:v>0.0107</c:v>
                </c:pt>
                <c:pt idx="39">
                  <c:v>0.0067</c:v>
                </c:pt>
                <c:pt idx="40">
                  <c:v>0.0041</c:v>
                </c:pt>
                <c:pt idx="41">
                  <c:v>0.0024</c:v>
                </c:pt>
                <c:pt idx="42">
                  <c:v>0.0013</c:v>
                </c:pt>
                <c:pt idx="43">
                  <c:v>0.0007</c:v>
                </c:pt>
                <c:pt idx="44">
                  <c:v>0.0004</c:v>
                </c:pt>
                <c:pt idx="45">
                  <c:v>0.0002</c:v>
                </c:pt>
                <c:pt idx="46">
                  <c:v>0.0001</c:v>
                </c:pt>
                <c:pt idx="47">
                  <c:v>0</c:v>
                </c:pt>
                <c:pt idx="48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síntesis del módulo 03. Complementa la video-lección y el texto del módulo en la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 · UNIDAD 1.6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 del punto de corte del requerimiento promedio estimado (EAR)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método del punto de corte del EAR y explicar sus supuestos.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por qué el hierro requiere el enfoque probabilístico completo.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 información necesaria para aplicar el método, incluidos los ajustes por biodisponibilidad.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 · Punto de corte del EAR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 del método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promedio estimado (EAR)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diaria que cubre las necesidades de la mitad de las personas sanas de un grupo de edad y sexo.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37160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proporción de la población con ingesta habitual inferior al EAR estima la prevalencia de ingesta inadecuada.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204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metodología recomendada por la OMS y la FAO para establecer niveles de fortificación de la mayoría de los micronutrientes.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 · Punto de corte del EAR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Supuestos que deben cumplirse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8988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Independencia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ingesta y el requerimiento de cada persona no están correlacionados.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31920" cy="14630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38988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Simetría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distribución de requerimientos es aproximadamente simétrica.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931920" cy="14630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08152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Variabilidad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varianza de la ingesta es mayor que la varianza del requerimiento.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880360"/>
            <a:ext cx="3931920" cy="14630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310896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308152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habitual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distribución corresponde a la ingesta habitual, corregida por la variación de un día a otro.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 · Punto de corte del EAR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de la fortificación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2120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2205943" y="1188720"/>
            <a:ext cx="0" cy="2514600"/>
          </a:xfrm>
          <a:prstGeom prst="line">
            <a:avLst/>
          </a:prstGeom>
          <a:noFill/>
          <a:ln w="19050">
            <a:solidFill>
              <a:srgbClr val="D9A21B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1840183" y="9601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886442" y="1188720"/>
            <a:ext cx="0" cy="2514600"/>
          </a:xfrm>
          <a:prstGeom prst="line">
            <a:avLst/>
          </a:prstGeom>
          <a:noFill/>
          <a:ln w="19050">
            <a:solidFill>
              <a:srgbClr val="5B6B72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4520682" y="9601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806440" y="1280160"/>
            <a:ext cx="2971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ilustrativo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Desplazar la distribución de la ingesta habitual para que solo un 2–3 % del grupo quede por debajo del EAR.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que los mayores consumidores del vehículo superen el nivel máximo de ingesta tolerable (UL).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 · Punto de corte del EAR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pasos para fijar el nivel de adición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la distribución de la ingesta habitual por subgrupo.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920240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24028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subgrupos con mayor prevalencia de ingesta inadecuada.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920240" cy="301752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24028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el consumo habitual del vehículo en esos subgrupos y en los grandes consumidores.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1920240" cy="301752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1417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24028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niveles de fortificación y comparar la ingesta proyectada con el EAR y el UL.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 · Punto de corte del EAR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de referencia en juego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0604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las necesidades del 50 % del grupo. Es el punto de corte para estimar la ingesta inadecuada.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64408" y="1234440"/>
            <a:ext cx="260604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93008" y="1417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INR / RDA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493008" y="21488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al 97–98 % del grupo; se sitúa en torno a dos desviaciones estándar por encima del EAR. No se usa como punto de corte.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71616" y="1234440"/>
            <a:ext cx="260604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0216" y="1417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300216" y="21488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habitual más alta sin riesgo de efectos adversos. Referencia para la inocuidad.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 · Punto de corte del EAR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Micronutrientes con tratamiento particular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8872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Hierro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niños, adolescentes y mujeres en edad fértil la distribución de requerimientos es asimétrica: se usa el enfoque probabilístico completo (módulo 04).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33172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Yodo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niveles recomendados por la OMS se basan en la experiencia de campo: 20–40 mg de yodo por kg de sal, con un consumo supuesto de 10 g de sal al día.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7472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fólico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meta se define por la reducción del riesgo de defectos del tubo neural, asociada a una ingesta adicional de 400 µg/día.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 · Punto de corte del EAR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Biodisponibilidad del compuesto añadido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EAR ya incorpora la biodisponibilidad del nutriente en la dieta habitual. Si el compuesto añadido se absorbe de forma distinta, el nivel de adición debe ajustarse.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46320" y="1234440"/>
            <a:ext cx="3840480" cy="301752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0" y="14630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26517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hierro electrolítico se añade en una cantidad del orden del doble que el sulfato ferroso para aportar una cantidad equivalente de hierro absorbible.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 · Punto de corte del EAR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con encuestas de gasto y consumo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8346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Supuesto del método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habitual individual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la variación diaria con al menos dos mediciones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todas las fuentes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283464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datos de la ENGIH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aparente del hogar expresada por EMA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mediciones repetidas por persona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fuera del hogar solo si la encuesta lo registra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prevalencias obtenidas son aproximaciones: sus supuestos se declaran en la unidad 4.4.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 · Punto de corte del EAR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 L, de Benoist B, Dary O, Hurrell R, editores. Guidelines on food fortification with micronutrients. Ginebra: OMS; FAO; 2006.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Medicine. Dietary Reference Intakes: applications in dietary assessment. Washington, DC: National Academy Press; 2000. doi:10.17226/9956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04 · Enfoque probabilístico completo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03 — Método del punto de corte del EAR</dc:title>
  <dc:subject>PptxGenJS Presentation</dc:subject>
  <dc:creator>PptxGenJS</dc:creator>
  <cp:lastModifiedBy>PptxGenJS</cp:lastModifiedBy>
  <cp:revision>1</cp:revision>
  <dcterms:created xsi:type="dcterms:W3CDTF">2026-09-27T02:36:29Z</dcterms:created>
  <dcterms:modified xsi:type="dcterms:W3CDTF">2026-09-27T02:36:29Z</dcterms:modified>
</cp:coreProperties>
</file>