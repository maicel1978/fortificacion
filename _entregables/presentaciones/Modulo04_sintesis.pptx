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9"/>
          <c:h val="0.7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Requerimiento simétrico</c:v>
                </c:pt>
              </c:strCache>
            </c:strRef>
          </c:tx>
          <c:spPr>
            <a:solidFill>
              <a:srgbClr val="5B6B72"/>
            </a:solidFill>
            <a:ln w="31750" cap="flat">
              <a:solidFill>
                <a:srgbClr val="5B6B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72"/>
              </a:solidFill>
              <a:ln w="9525" cap="flat">
                <a:solidFill>
                  <a:srgbClr val="5B6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Sheet1!$A$2:$A$62</c:f>
              <c:multiLvlStrCache>
                <c:ptCount val="61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  <c:pt idx="7">
                    <c:v>3.5</c:v>
                  </c:pt>
                  <c:pt idx="8">
                    <c:v>4</c:v>
                  </c:pt>
                  <c:pt idx="9">
                    <c:v>4.5</c:v>
                  </c:pt>
                  <c:pt idx="10">
                    <c:v>5</c:v>
                  </c:pt>
                  <c:pt idx="11">
                    <c:v>5.5</c:v>
                  </c:pt>
                  <c:pt idx="12">
                    <c:v>6</c:v>
                  </c:pt>
                  <c:pt idx="13">
                    <c:v>6.5</c:v>
                  </c:pt>
                  <c:pt idx="14">
                    <c:v>7</c:v>
                  </c:pt>
                  <c:pt idx="15">
                    <c:v>7.5</c:v>
                  </c:pt>
                  <c:pt idx="16">
                    <c:v>8</c:v>
                  </c:pt>
                  <c:pt idx="17">
                    <c:v>8.5</c:v>
                  </c:pt>
                  <c:pt idx="18">
                    <c:v>9</c:v>
                  </c:pt>
                  <c:pt idx="19">
                    <c:v>9.5</c:v>
                  </c:pt>
                  <c:pt idx="20">
                    <c:v>10</c:v>
                  </c:pt>
                  <c:pt idx="21">
                    <c:v>10.5</c:v>
                  </c:pt>
                  <c:pt idx="22">
                    <c:v>11</c:v>
                  </c:pt>
                  <c:pt idx="23">
                    <c:v>11.5</c:v>
                  </c:pt>
                  <c:pt idx="24">
                    <c:v>12</c:v>
                  </c:pt>
                  <c:pt idx="25">
                    <c:v>12.5</c:v>
                  </c:pt>
                  <c:pt idx="26">
                    <c:v>13</c:v>
                  </c:pt>
                  <c:pt idx="27">
                    <c:v>13.5</c:v>
                  </c:pt>
                  <c:pt idx="28">
                    <c:v>14</c:v>
                  </c:pt>
                  <c:pt idx="29">
                    <c:v>14.5</c:v>
                  </c:pt>
                  <c:pt idx="30">
                    <c:v>15</c:v>
                  </c:pt>
                  <c:pt idx="31">
                    <c:v>15.5</c:v>
                  </c:pt>
                  <c:pt idx="32">
                    <c:v>16</c:v>
                  </c:pt>
                  <c:pt idx="33">
                    <c:v>16.5</c:v>
                  </c:pt>
                  <c:pt idx="34">
                    <c:v>17</c:v>
                  </c:pt>
                  <c:pt idx="35">
                    <c:v>17.5</c:v>
                  </c:pt>
                  <c:pt idx="36">
                    <c:v>18</c:v>
                  </c:pt>
                  <c:pt idx="37">
                    <c:v>18.5</c:v>
                  </c:pt>
                  <c:pt idx="38">
                    <c:v>19</c:v>
                  </c:pt>
                  <c:pt idx="39">
                    <c:v>19.5</c:v>
                  </c:pt>
                  <c:pt idx="40">
                    <c:v>20</c:v>
                  </c:pt>
                  <c:pt idx="41">
                    <c:v>20.5</c:v>
                  </c:pt>
                  <c:pt idx="42">
                    <c:v>21</c:v>
                  </c:pt>
                  <c:pt idx="43">
                    <c:v>21.5</c:v>
                  </c:pt>
                  <c:pt idx="44">
                    <c:v>22</c:v>
                  </c:pt>
                  <c:pt idx="45">
                    <c:v>22.5</c:v>
                  </c:pt>
                  <c:pt idx="46">
                    <c:v>23</c:v>
                  </c:pt>
                  <c:pt idx="47">
                    <c:v>23.5</c:v>
                  </c:pt>
                  <c:pt idx="48">
                    <c:v>24</c:v>
                  </c:pt>
                  <c:pt idx="49">
                    <c:v>24.5</c:v>
                  </c:pt>
                  <c:pt idx="50">
                    <c:v>25</c:v>
                  </c:pt>
                  <c:pt idx="51">
                    <c:v>25.5</c:v>
                  </c:pt>
                  <c:pt idx="52">
                    <c:v>26</c:v>
                  </c:pt>
                  <c:pt idx="53">
                    <c:v>26.5</c:v>
                  </c:pt>
                  <c:pt idx="54">
                    <c:v>27</c:v>
                  </c:pt>
                  <c:pt idx="55">
                    <c:v>27.5</c:v>
                  </c:pt>
                  <c:pt idx="56">
                    <c:v>28</c:v>
                  </c:pt>
                  <c:pt idx="57">
                    <c:v>28.5</c:v>
                  </c:pt>
                  <c:pt idx="58">
                    <c:v>29</c:v>
                  </c:pt>
                  <c:pt idx="59">
                    <c:v>29.5</c:v>
                  </c:pt>
                  <c:pt idx="60">
                    <c:v>30</c:v>
                  </c:pt>
                </c:lvl>
              </c:multiLvlStrCache>
            </c:multiLvl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0.0001</c:v>
                </c:pt>
                <c:pt idx="2">
                  <c:v>0.0002</c:v>
                </c:pt>
                <c:pt idx="3">
                  <c:v>0.0003</c:v>
                </c:pt>
                <c:pt idx="4">
                  <c:v>0.0005</c:v>
                </c:pt>
                <c:pt idx="5">
                  <c:v>0.0009</c:v>
                </c:pt>
                <c:pt idx="6">
                  <c:v>0.0015</c:v>
                </c:pt>
                <c:pt idx="7">
                  <c:v>0.0024</c:v>
                </c:pt>
                <c:pt idx="8">
                  <c:v>0.0038</c:v>
                </c:pt>
                <c:pt idx="9">
                  <c:v>0.0058</c:v>
                </c:pt>
                <c:pt idx="10">
                  <c:v>0.0087</c:v>
                </c:pt>
                <c:pt idx="11">
                  <c:v>0.0127</c:v>
                </c:pt>
                <c:pt idx="12">
                  <c:v>0.018</c:v>
                </c:pt>
                <c:pt idx="13">
                  <c:v>0.0248</c:v>
                </c:pt>
                <c:pt idx="14">
                  <c:v>0.0332</c:v>
                </c:pt>
                <c:pt idx="15">
                  <c:v>0.0432</c:v>
                </c:pt>
                <c:pt idx="16">
                  <c:v>0.0547</c:v>
                </c:pt>
                <c:pt idx="17">
                  <c:v>0.0673</c:v>
                </c:pt>
                <c:pt idx="18">
                  <c:v>0.0807</c:v>
                </c:pt>
                <c:pt idx="19">
                  <c:v>0.094</c:v>
                </c:pt>
                <c:pt idx="20">
                  <c:v>0.1065</c:v>
                </c:pt>
                <c:pt idx="21">
                  <c:v>0.1174</c:v>
                </c:pt>
                <c:pt idx="22">
                  <c:v>0.1258</c:v>
                </c:pt>
                <c:pt idx="23">
                  <c:v>0.1311</c:v>
                </c:pt>
                <c:pt idx="24">
                  <c:v>0.133</c:v>
                </c:pt>
                <c:pt idx="25">
                  <c:v>0.1311</c:v>
                </c:pt>
                <c:pt idx="26">
                  <c:v>0.1258</c:v>
                </c:pt>
                <c:pt idx="27">
                  <c:v>0.1174</c:v>
                </c:pt>
                <c:pt idx="28">
                  <c:v>0.1065</c:v>
                </c:pt>
                <c:pt idx="29">
                  <c:v>0.094</c:v>
                </c:pt>
                <c:pt idx="30">
                  <c:v>0.0807</c:v>
                </c:pt>
                <c:pt idx="31">
                  <c:v>0.0673</c:v>
                </c:pt>
                <c:pt idx="32">
                  <c:v>0.0547</c:v>
                </c:pt>
                <c:pt idx="33">
                  <c:v>0.0432</c:v>
                </c:pt>
                <c:pt idx="34">
                  <c:v>0.0332</c:v>
                </c:pt>
                <c:pt idx="35">
                  <c:v>0.0248</c:v>
                </c:pt>
                <c:pt idx="36">
                  <c:v>0.018</c:v>
                </c:pt>
                <c:pt idx="37">
                  <c:v>0.0127</c:v>
                </c:pt>
                <c:pt idx="38">
                  <c:v>0.0087</c:v>
                </c:pt>
                <c:pt idx="39">
                  <c:v>0.0058</c:v>
                </c:pt>
                <c:pt idx="40">
                  <c:v>0.0038</c:v>
                </c:pt>
                <c:pt idx="41">
                  <c:v>0.0024</c:v>
                </c:pt>
                <c:pt idx="42">
                  <c:v>0.0015</c:v>
                </c:pt>
                <c:pt idx="43">
                  <c:v>0.0009</c:v>
                </c:pt>
                <c:pt idx="44">
                  <c:v>0.0005</c:v>
                </c:pt>
                <c:pt idx="45">
                  <c:v>0.0003</c:v>
                </c:pt>
                <c:pt idx="46">
                  <c:v>0.0002</c:v>
                </c:pt>
                <c:pt idx="47">
                  <c:v>0.0001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Requerimiento asimétrico</c:v>
                </c:pt>
              </c:strCache>
            </c:strRef>
          </c:tx>
          <c:spPr>
            <a:solidFill>
              <a:srgbClr val="0B3C49"/>
            </a:solidFill>
            <a:ln w="31750" cap="flat">
              <a:solidFill>
                <a:srgbClr val="0B3C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Sheet1!$A$2:$A$62</c:f>
              <c:multiLvlStrCache>
                <c:ptCount val="61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  <c:pt idx="7">
                    <c:v>3.5</c:v>
                  </c:pt>
                  <c:pt idx="8">
                    <c:v>4</c:v>
                  </c:pt>
                  <c:pt idx="9">
                    <c:v>4.5</c:v>
                  </c:pt>
                  <c:pt idx="10">
                    <c:v>5</c:v>
                  </c:pt>
                  <c:pt idx="11">
                    <c:v>5.5</c:v>
                  </c:pt>
                  <c:pt idx="12">
                    <c:v>6</c:v>
                  </c:pt>
                  <c:pt idx="13">
                    <c:v>6.5</c:v>
                  </c:pt>
                  <c:pt idx="14">
                    <c:v>7</c:v>
                  </c:pt>
                  <c:pt idx="15">
                    <c:v>7.5</c:v>
                  </c:pt>
                  <c:pt idx="16">
                    <c:v>8</c:v>
                  </c:pt>
                  <c:pt idx="17">
                    <c:v>8.5</c:v>
                  </c:pt>
                  <c:pt idx="18">
                    <c:v>9</c:v>
                  </c:pt>
                  <c:pt idx="19">
                    <c:v>9.5</c:v>
                  </c:pt>
                  <c:pt idx="20">
                    <c:v>10</c:v>
                  </c:pt>
                  <c:pt idx="21">
                    <c:v>10.5</c:v>
                  </c:pt>
                  <c:pt idx="22">
                    <c:v>11</c:v>
                  </c:pt>
                  <c:pt idx="23">
                    <c:v>11.5</c:v>
                  </c:pt>
                  <c:pt idx="24">
                    <c:v>12</c:v>
                  </c:pt>
                  <c:pt idx="25">
                    <c:v>12.5</c:v>
                  </c:pt>
                  <c:pt idx="26">
                    <c:v>13</c:v>
                  </c:pt>
                  <c:pt idx="27">
                    <c:v>13.5</c:v>
                  </c:pt>
                  <c:pt idx="28">
                    <c:v>14</c:v>
                  </c:pt>
                  <c:pt idx="29">
                    <c:v>14.5</c:v>
                  </c:pt>
                  <c:pt idx="30">
                    <c:v>15</c:v>
                  </c:pt>
                  <c:pt idx="31">
                    <c:v>15.5</c:v>
                  </c:pt>
                  <c:pt idx="32">
                    <c:v>16</c:v>
                  </c:pt>
                  <c:pt idx="33">
                    <c:v>16.5</c:v>
                  </c:pt>
                  <c:pt idx="34">
                    <c:v>17</c:v>
                  </c:pt>
                  <c:pt idx="35">
                    <c:v>17.5</c:v>
                  </c:pt>
                  <c:pt idx="36">
                    <c:v>18</c:v>
                  </c:pt>
                  <c:pt idx="37">
                    <c:v>18.5</c:v>
                  </c:pt>
                  <c:pt idx="38">
                    <c:v>19</c:v>
                  </c:pt>
                  <c:pt idx="39">
                    <c:v>19.5</c:v>
                  </c:pt>
                  <c:pt idx="40">
                    <c:v>20</c:v>
                  </c:pt>
                  <c:pt idx="41">
                    <c:v>20.5</c:v>
                  </c:pt>
                  <c:pt idx="42">
                    <c:v>21</c:v>
                  </c:pt>
                  <c:pt idx="43">
                    <c:v>21.5</c:v>
                  </c:pt>
                  <c:pt idx="44">
                    <c:v>22</c:v>
                  </c:pt>
                  <c:pt idx="45">
                    <c:v>22.5</c:v>
                  </c:pt>
                  <c:pt idx="46">
                    <c:v>23</c:v>
                  </c:pt>
                  <c:pt idx="47">
                    <c:v>23.5</c:v>
                  </c:pt>
                  <c:pt idx="48">
                    <c:v>24</c:v>
                  </c:pt>
                  <c:pt idx="49">
                    <c:v>24.5</c:v>
                  </c:pt>
                  <c:pt idx="50">
                    <c:v>25</c:v>
                  </c:pt>
                  <c:pt idx="51">
                    <c:v>25.5</c:v>
                  </c:pt>
                  <c:pt idx="52">
                    <c:v>26</c:v>
                  </c:pt>
                  <c:pt idx="53">
                    <c:v>26.5</c:v>
                  </c:pt>
                  <c:pt idx="54">
                    <c:v>27</c:v>
                  </c:pt>
                  <c:pt idx="55">
                    <c:v>27.5</c:v>
                  </c:pt>
                  <c:pt idx="56">
                    <c:v>28</c:v>
                  </c:pt>
                  <c:pt idx="57">
                    <c:v>28.5</c:v>
                  </c:pt>
                  <c:pt idx="58">
                    <c:v>29</c:v>
                  </c:pt>
                  <c:pt idx="59">
                    <c:v>29.5</c:v>
                  </c:pt>
                  <c:pt idx="60">
                    <c:v>30</c:v>
                  </c:pt>
                </c:lvl>
              </c:multiLvlStrCache>
            </c:multiLvlStrRef>
          </c:cat>
          <c:val>
            <c:numRef>
              <c:f>Sheet1!$C$2:$C$62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0.0001</c:v>
                </c:pt>
                <c:pt idx="4">
                  <c:v>0.0007</c:v>
                </c:pt>
                <c:pt idx="5">
                  <c:v>0.0031</c:v>
                </c:pt>
                <c:pt idx="6">
                  <c:v>0.0082</c:v>
                </c:pt>
                <c:pt idx="7">
                  <c:v>0.0167</c:v>
                </c:pt>
                <c:pt idx="8">
                  <c:v>0.0279</c:v>
                </c:pt>
                <c:pt idx="9">
                  <c:v>0.0408</c:v>
                </c:pt>
                <c:pt idx="10">
                  <c:v>0.0541</c:v>
                </c:pt>
                <c:pt idx="11">
                  <c:v>0.0667</c:v>
                </c:pt>
                <c:pt idx="12">
                  <c:v>0.0776</c:v>
                </c:pt>
                <c:pt idx="13">
                  <c:v>0.0863</c:v>
                </c:pt>
                <c:pt idx="14">
                  <c:v>0.0925</c:v>
                </c:pt>
                <c:pt idx="15">
                  <c:v>0.0964</c:v>
                </c:pt>
                <c:pt idx="16">
                  <c:v>0.098</c:v>
                </c:pt>
                <c:pt idx="17">
                  <c:v>0.0977</c:v>
                </c:pt>
                <c:pt idx="18">
                  <c:v>0.0958</c:v>
                </c:pt>
                <c:pt idx="19">
                  <c:v>0.0927</c:v>
                </c:pt>
                <c:pt idx="20">
                  <c:v>0.0887</c:v>
                </c:pt>
                <c:pt idx="21">
                  <c:v>0.0839</c:v>
                </c:pt>
                <c:pt idx="22">
                  <c:v>0.0788</c:v>
                </c:pt>
                <c:pt idx="23">
                  <c:v>0.0735</c:v>
                </c:pt>
                <c:pt idx="24">
                  <c:v>0.0681</c:v>
                </c:pt>
                <c:pt idx="25">
                  <c:v>0.0627</c:v>
                </c:pt>
                <c:pt idx="26">
                  <c:v>0.0575</c:v>
                </c:pt>
                <c:pt idx="27">
                  <c:v>0.0526</c:v>
                </c:pt>
                <c:pt idx="28">
                  <c:v>0.0479</c:v>
                </c:pt>
                <c:pt idx="29">
                  <c:v>0.0435</c:v>
                </c:pt>
                <c:pt idx="30">
                  <c:v>0.0394</c:v>
                </c:pt>
                <c:pt idx="31">
                  <c:v>0.0356</c:v>
                </c:pt>
                <c:pt idx="32">
                  <c:v>0.0321</c:v>
                </c:pt>
                <c:pt idx="33">
                  <c:v>0.0289</c:v>
                </c:pt>
                <c:pt idx="34">
                  <c:v>0.026</c:v>
                </c:pt>
                <c:pt idx="35">
                  <c:v>0.0234</c:v>
                </c:pt>
                <c:pt idx="36">
                  <c:v>0.021</c:v>
                </c:pt>
                <c:pt idx="37">
                  <c:v>0.0188</c:v>
                </c:pt>
                <c:pt idx="38">
                  <c:v>0.0169</c:v>
                </c:pt>
                <c:pt idx="39">
                  <c:v>0.0151</c:v>
                </c:pt>
                <c:pt idx="40">
                  <c:v>0.0135</c:v>
                </c:pt>
                <c:pt idx="41">
                  <c:v>0.0121</c:v>
                </c:pt>
                <c:pt idx="42">
                  <c:v>0.0108</c:v>
                </c:pt>
                <c:pt idx="43">
                  <c:v>0.0097</c:v>
                </c:pt>
                <c:pt idx="44">
                  <c:v>0.0087</c:v>
                </c:pt>
                <c:pt idx="45">
                  <c:v>0.0078</c:v>
                </c:pt>
                <c:pt idx="46">
                  <c:v>0.007</c:v>
                </c:pt>
                <c:pt idx="47">
                  <c:v>0.0062</c:v>
                </c:pt>
                <c:pt idx="48">
                  <c:v>0.0056</c:v>
                </c:pt>
                <c:pt idx="49">
                  <c:v>0.005</c:v>
                </c:pt>
                <c:pt idx="50">
                  <c:v>0.0045</c:v>
                </c:pt>
                <c:pt idx="51">
                  <c:v>0.004</c:v>
                </c:pt>
                <c:pt idx="52">
                  <c:v>0.0036</c:v>
                </c:pt>
                <c:pt idx="53">
                  <c:v>0.0032</c:v>
                </c:pt>
                <c:pt idx="54">
                  <c:v>0.0029</c:v>
                </c:pt>
                <c:pt idx="55">
                  <c:v>0.0026</c:v>
                </c:pt>
                <c:pt idx="56">
                  <c:v>0.0023</c:v>
                </c:pt>
                <c:pt idx="57">
                  <c:v>0.0021</c:v>
                </c:pt>
                <c:pt idx="58">
                  <c:v>0.0019</c:v>
                </c:pt>
                <c:pt idx="59">
                  <c:v>0.0017</c:v>
                </c:pt>
                <c:pt idx="60">
                  <c:v>0.0015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UNIDAD 1.6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probabilístico completo para el hierro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la distribución de requerimientos de hierro invalida el método del punto de corte en ciertos grupos.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la prevalencia de ingesta inadecuada combinando intervalos de ingesta y probabilidades de inadecuación.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información necesaria, incluida la biodisponibilidad del hierro de la dieta.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Enfoque probabilístico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de hierro asimétricos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2120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06440" y="12801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ilustrativo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niños, adolescentes y mujeres en edad fértil, las pérdidas menstruales y las necesidades de crecimiento sesgan la distribución hacia la derecha.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esa asimetría, el punto de corte del EAR subestima la prevalencia de ingesta inadecuada.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Enfoque probabilístico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la ingesta habitual en intervalos.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a cada intervalo la probabilidad de inadecuación según la distribución de requerimientos.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esa probabilidad por la proporción de la población en el intervalo.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sobre todos los intervalos y simular el efecto de la fortificación.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Enfoque probabilístico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de la prevalencia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prevalencia  =  Σₖ  pₖ  ×  P(requerimiento &gt; ingestaₖ)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pₖ: proporción de la población en el intervalo de ingesta 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inadecuación se lee de la distribución de requerimientos correspondiente a la biodisponibilidad de la dieta.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se repite para cada nivel de fortificación candidato.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Enfoque probabilístico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necesaria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ingesta habitual de hierro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subgrupo, idealmente con dos o más días de registro por persona.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6220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62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1648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Biodisponibilidad del hierro de la dieta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qué tabla de requerimientos se aplica.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899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89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4424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del vehículo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grupos de riesgo y en los grandes consumidores.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Enfoque probabilístico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con encuestas de gasto y consumo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 del método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habitual individual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subgrupo de edad y sexo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Biodisponibilidad conocida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datos de la ENGIH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aparente del hogar expresada por 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ingesta aparente entre hogares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Biodisponibilidad supuesta y declarada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son aproximaciones; sus supuestos se declaran en la unidad 4.4.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Enfoque probabilístico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Medicine. Dietary Reference Intakes: applications in dietary assessment. Washington, DC: National Academy Press; 2000. doi:10.17226/9956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OMS, FAO. Vitamin and mineral requirements in human nutrition. 2.ª ed. Ginebra: OMS; 2004.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05 · Monitoreo, evaluación y aprendizaje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Enfoque probabilístico completo para el hierro</dc:title>
  <dc:subject>PptxGenJS Presentation</dc:subject>
  <dc:creator>PptxGenJS</dc:creator>
  <cp:lastModifiedBy>PptxGenJS</cp:lastModifiedBy>
  <cp:revision>1</cp:revision>
  <dcterms:created xsi:type="dcterms:W3CDTF">2026-09-27T02:45:41Z</dcterms:created>
  <dcterms:modified xsi:type="dcterms:W3CDTF">2026-09-27T02:45:41Z</dcterms:modified>
</cp:coreProperties>
</file>