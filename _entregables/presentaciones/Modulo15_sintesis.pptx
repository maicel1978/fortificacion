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1097280"/>
            <a:ext cx="8046720" cy="365760"/>
          </a:xfrm>
          <a:prstGeom prst="rect">
            <a:avLst/>
          </a:prstGeom>
          <a:noFill/>
          <a:ln/>
        </p:spPr>
        <p:txBody>
          <a:bodyPr wrap="square" lIns="0" tIns="0" rIns="0" bIns="0" rtlCol="0" anchor="ctr"/>
          <a:lstStyle/>
          <a:p>
            <a:pPr indent="0" marL="0">
              <a:buNone/>
            </a:pPr>
            <a:r>
              <a:rPr lang="en-US" sz="1300" b="1" spc="200" kern="0" dirty="0">
                <a:solidFill>
                  <a:srgbClr val="D9A21B"/>
                </a:solidFill>
                <a:latin typeface="Calibri" pitchFamily="34" charset="0"/>
                <a:ea typeface="Calibri" pitchFamily="34" charset="-122"/>
                <a:cs typeface="Calibri" pitchFamily="34" charset="-120"/>
              </a:rPr>
              <a:t>MÓDULO 15 · UNIDAD 2.1</a:t>
            </a:r>
            <a:endParaRPr lang="en-US" sz="1300" dirty="0"/>
          </a:p>
        </p:txBody>
      </p:sp>
      <p:sp>
        <p:nvSpPr>
          <p:cNvPr id="3" name="Text 1"/>
          <p:cNvSpPr txBox="1"/>
          <p:nvPr/>
        </p:nvSpPr>
        <p:spPr>
          <a:xfrm>
            <a:off x="548640" y="1554480"/>
            <a:ext cx="7863840" cy="13716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Nivel factible de fortificación: la metodología OMS/FAO</a:t>
            </a:r>
            <a:endParaRPr lang="en-US" sz="3200" dirty="0"/>
          </a:p>
        </p:txBody>
      </p:sp>
      <p:sp>
        <p:nvSpPr>
          <p:cNvPr id="4" name="Text 2"/>
          <p:cNvSpPr txBox="1"/>
          <p:nvPr/>
        </p:nvSpPr>
        <p:spPr>
          <a:xfrm>
            <a:off x="548640" y="3200400"/>
            <a:ext cx="7863840" cy="548640"/>
          </a:xfrm>
          <a:prstGeom prst="rect">
            <a:avLst/>
          </a:prstGeom>
          <a:noFill/>
          <a:ln/>
        </p:spPr>
        <p:txBody>
          <a:bodyPr wrap="square" lIns="0" tIns="0" rIns="0" bIns="0" rtlCol="0" anchor="ctr"/>
          <a:lstStyle/>
          <a:p>
            <a:pPr indent="0" marL="0">
              <a:buNone/>
            </a:pPr>
            <a:r>
              <a:rPr lang="en-US" sz="1400" dirty="0">
                <a:solidFill>
                  <a:srgbClr val="C9DADD"/>
                </a:solidFill>
                <a:latin typeface="Calibri" pitchFamily="34" charset="0"/>
                <a:ea typeface="Calibri" pitchFamily="34" charset="-122"/>
                <a:cs typeface="Calibri" pitchFamily="34" charset="-120"/>
              </a:rPr>
              <a:t>Módulos e-learning sobre cobertura, consumo y contribución de alimentos fortificados y fortificables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B3C49"/>
                </a:solidFill>
                <a:latin typeface="Cambria" pitchFamily="34" charset="0"/>
                <a:ea typeface="Cambria" pitchFamily="34" charset="-122"/>
                <a:cs typeface="Cambria" pitchFamily="34" charset="-120"/>
              </a:rPr>
              <a:t>Objetivos de aprendizaje</a:t>
            </a:r>
            <a:endParaRPr lang="en-US" sz="2800" dirty="0"/>
          </a:p>
        </p:txBody>
      </p:sp>
      <p:sp>
        <p:nvSpPr>
          <p:cNvPr id="3" name="Shape 1"/>
          <p:cNvSpPr/>
          <p:nvPr/>
        </p:nvSpPr>
        <p:spPr>
          <a:xfrm>
            <a:off x="548640" y="1234440"/>
            <a:ext cx="457200" cy="457200"/>
          </a:xfrm>
          <a:prstGeom prst="ellipse">
            <a:avLst/>
          </a:prstGeom>
          <a:solidFill>
            <a:srgbClr val="0B3C49"/>
          </a:solidFill>
          <a:ln w="12700">
            <a:solidFill>
              <a:srgbClr val="0B3C49"/>
            </a:solidFill>
            <a:prstDash val="solid"/>
          </a:ln>
        </p:spPr>
      </p:sp>
      <p:sp>
        <p:nvSpPr>
          <p:cNvPr id="4" name="Text 2"/>
          <p:cNvSpPr txBox="1"/>
          <p:nvPr/>
        </p:nvSpPr>
        <p:spPr>
          <a:xfrm>
            <a:off x="54864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234440"/>
            <a:ext cx="7223760" cy="731520"/>
          </a:xfrm>
          <a:prstGeom prst="rect">
            <a:avLst/>
          </a:prstGeom>
          <a:noFill/>
          <a:ln/>
        </p:spPr>
        <p:txBody>
          <a:bodyPr wrap="square" lIns="0" tIns="0" rIns="0" bIns="0" rtlCol="0" anchor="ctr"/>
          <a:lstStyle/>
          <a:p>
            <a:pPr indent="0" marL="0">
              <a:buNone/>
            </a:pPr>
            <a:r>
              <a:rPr lang="en-US" sz="1700" dirty="0">
                <a:solidFill>
                  <a:srgbClr val="1F2A30"/>
                </a:solidFill>
                <a:latin typeface="Calibri" pitchFamily="34" charset="0"/>
                <a:ea typeface="Calibri" pitchFamily="34" charset="-122"/>
                <a:cs typeface="Calibri" pitchFamily="34" charset="-120"/>
              </a:rPr>
              <a:t>Distinguir el nivel de fortificación, que es una concentración en el alimento, de los valores de referencia de ingesta.</a:t>
            </a:r>
            <a:endParaRPr lang="en-US" sz="1700" dirty="0"/>
          </a:p>
        </p:txBody>
      </p:sp>
      <p:sp>
        <p:nvSpPr>
          <p:cNvPr id="6" name="Shape 4"/>
          <p:cNvSpPr/>
          <p:nvPr/>
        </p:nvSpPr>
        <p:spPr>
          <a:xfrm>
            <a:off x="548640" y="2286000"/>
            <a:ext cx="457200" cy="457200"/>
          </a:xfrm>
          <a:prstGeom prst="ellipse">
            <a:avLst/>
          </a:prstGeom>
          <a:solidFill>
            <a:srgbClr val="0B3C49"/>
          </a:solidFill>
          <a:ln w="12700">
            <a:solidFill>
              <a:srgbClr val="0B3C49"/>
            </a:solidFill>
            <a:prstDash val="solid"/>
          </a:ln>
        </p:spPr>
      </p:sp>
      <p:sp>
        <p:nvSpPr>
          <p:cNvPr id="7" name="Text 5"/>
          <p:cNvSpPr txBox="1"/>
          <p:nvPr/>
        </p:nvSpPr>
        <p:spPr>
          <a:xfrm>
            <a:off x="548640"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234440" y="2286000"/>
            <a:ext cx="7223760" cy="731520"/>
          </a:xfrm>
          <a:prstGeom prst="rect">
            <a:avLst/>
          </a:prstGeom>
          <a:noFill/>
          <a:ln/>
        </p:spPr>
        <p:txBody>
          <a:bodyPr wrap="square" lIns="0" tIns="0" rIns="0" bIns="0" rtlCol="0" anchor="ctr"/>
          <a:lstStyle/>
          <a:p>
            <a:pPr indent="0" marL="0">
              <a:buNone/>
            </a:pPr>
            <a:r>
              <a:rPr lang="en-US" sz="1700" dirty="0">
                <a:solidFill>
                  <a:srgbClr val="1F2A30"/>
                </a:solidFill>
                <a:latin typeface="Calibri" pitchFamily="34" charset="0"/>
                <a:ea typeface="Calibri" pitchFamily="34" charset="-122"/>
                <a:cs typeface="Calibri" pitchFamily="34" charset="-120"/>
              </a:rPr>
              <a:t>Explicar cómo se define la meta nutricional y cuáles son los tres límites.</a:t>
            </a:r>
            <a:endParaRPr lang="en-US" sz="1700" dirty="0"/>
          </a:p>
        </p:txBody>
      </p:sp>
      <p:sp>
        <p:nvSpPr>
          <p:cNvPr id="9" name="Shape 7"/>
          <p:cNvSpPr/>
          <p:nvPr/>
        </p:nvSpPr>
        <p:spPr>
          <a:xfrm>
            <a:off x="548640" y="3337560"/>
            <a:ext cx="457200" cy="457200"/>
          </a:xfrm>
          <a:prstGeom prst="ellipse">
            <a:avLst/>
          </a:prstGeom>
          <a:solidFill>
            <a:srgbClr val="0B3C49"/>
          </a:solidFill>
          <a:ln w="12700">
            <a:solidFill>
              <a:srgbClr val="0B3C49"/>
            </a:solidFill>
            <a:prstDash val="solid"/>
          </a:ln>
        </p:spPr>
      </p:sp>
      <p:sp>
        <p:nvSpPr>
          <p:cNvPr id="10" name="Text 8"/>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234440" y="3337560"/>
            <a:ext cx="7223760" cy="731520"/>
          </a:xfrm>
          <a:prstGeom prst="rect">
            <a:avLst/>
          </a:prstGeom>
          <a:noFill/>
          <a:ln/>
        </p:spPr>
        <p:txBody>
          <a:bodyPr wrap="square" lIns="0" tIns="0" rIns="0" bIns="0" rtlCol="0" anchor="ctr"/>
          <a:lstStyle/>
          <a:p>
            <a:pPr indent="0" marL="0">
              <a:buNone/>
            </a:pPr>
            <a:r>
              <a:rPr lang="en-US" sz="1700" dirty="0">
                <a:solidFill>
                  <a:srgbClr val="1F2A30"/>
                </a:solidFill>
                <a:latin typeface="Calibri" pitchFamily="34" charset="0"/>
                <a:ea typeface="Calibri" pitchFamily="34" charset="-122"/>
                <a:cs typeface="Calibri" pitchFamily="34" charset="-120"/>
              </a:rPr>
              <a:t>Aplicar la regla de decisión del nivel factible e interpretar sus consecuencias.</a:t>
            </a:r>
            <a:endParaRPr lang="en-US" sz="1700" dirty="0"/>
          </a:p>
        </p:txBody>
      </p:sp>
      <p:sp>
        <p:nvSpPr>
          <p:cNvPr id="12" name="Text 10"/>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Módulo 15 · Nivel factible de fortificación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B3C49"/>
                </a:solidFill>
                <a:latin typeface="Cambria" pitchFamily="34" charset="0"/>
                <a:ea typeface="Cambria" pitchFamily="34" charset="-122"/>
                <a:cs typeface="Cambria" pitchFamily="34" charset="-120"/>
              </a:rPr>
              <a:t>Dos magnitudes distintas</a:t>
            </a:r>
            <a:endParaRPr lang="en-US" sz="2800" dirty="0"/>
          </a:p>
        </p:txBody>
      </p:sp>
      <p:sp>
        <p:nvSpPr>
          <p:cNvPr id="3" name="Shape 1"/>
          <p:cNvSpPr/>
          <p:nvPr/>
        </p:nvSpPr>
        <p:spPr>
          <a:xfrm>
            <a:off x="457200" y="1188720"/>
            <a:ext cx="3931920" cy="2834640"/>
          </a:xfrm>
          <a:prstGeom prst="rect">
            <a:avLst/>
          </a:prstGeom>
          <a:solidFill>
            <a:srgbClr val="EEF4F5"/>
          </a:solidFill>
          <a:ln w="12700">
            <a:solidFill>
              <a:srgbClr val="EEF4F5"/>
            </a:solidFill>
            <a:prstDash val="solid"/>
          </a:ln>
        </p:spPr>
      </p:sp>
      <p:sp>
        <p:nvSpPr>
          <p:cNvPr id="4" name="Text 2"/>
          <p:cNvSpPr txBox="1"/>
          <p:nvPr/>
        </p:nvSpPr>
        <p:spPr>
          <a:xfrm>
            <a:off x="731520" y="1325880"/>
            <a:ext cx="3474720" cy="457200"/>
          </a:xfrm>
          <a:prstGeom prst="rect">
            <a:avLst/>
          </a:prstGeom>
          <a:noFill/>
          <a:ln/>
        </p:spPr>
        <p:txBody>
          <a:bodyPr wrap="square" lIns="0" tIns="0" rIns="0" bIns="0" rtlCol="0" anchor="ctr"/>
          <a:lstStyle/>
          <a:p>
            <a:pPr indent="0" marL="0">
              <a:buNone/>
            </a:pPr>
            <a:r>
              <a:rPr lang="en-US" sz="1800" b="1" dirty="0">
                <a:solidFill>
                  <a:srgbClr val="0B3C49"/>
                </a:solidFill>
                <a:latin typeface="Cambria" pitchFamily="34" charset="0"/>
                <a:ea typeface="Cambria" pitchFamily="34" charset="-122"/>
                <a:cs typeface="Cambria" pitchFamily="34" charset="-120"/>
              </a:rPr>
              <a:t>Nivel de fortificación</a:t>
            </a:r>
            <a:endParaRPr lang="en-US" sz="1800" dirty="0"/>
          </a:p>
        </p:txBody>
      </p:sp>
      <p:sp>
        <p:nvSpPr>
          <p:cNvPr id="5" name="Text 3"/>
          <p:cNvSpPr txBox="1"/>
          <p:nvPr/>
        </p:nvSpPr>
        <p:spPr>
          <a:xfrm>
            <a:off x="731520" y="1874520"/>
            <a:ext cx="34747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Concentración en el alimento</a:t>
            </a:r>
            <a:endParaRPr lang="en-US" sz="1400" dirty="0"/>
          </a:p>
          <a:p>
            <a:pPr marL="342900" indent="-3429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Por ejemplo, mg por kg de harina</a:t>
            </a:r>
            <a:endParaRPr lang="en-US" sz="1400" dirty="0"/>
          </a:p>
          <a:p>
            <a:pPr marL="342900" indent="-3429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Es lo que fija la norma</a:t>
            </a:r>
            <a:endParaRPr lang="en-US" sz="1400" dirty="0"/>
          </a:p>
        </p:txBody>
      </p:sp>
      <p:sp>
        <p:nvSpPr>
          <p:cNvPr id="6" name="Shape 4"/>
          <p:cNvSpPr/>
          <p:nvPr/>
        </p:nvSpPr>
        <p:spPr>
          <a:xfrm>
            <a:off x="4663440" y="1188720"/>
            <a:ext cx="3931920" cy="2834640"/>
          </a:xfrm>
          <a:prstGeom prst="rect">
            <a:avLst/>
          </a:prstGeom>
          <a:solidFill>
            <a:srgbClr val="0B3C49"/>
          </a:solidFill>
          <a:ln w="12700">
            <a:solidFill>
              <a:srgbClr val="0B3C49"/>
            </a:solidFill>
            <a:prstDash val="solid"/>
          </a:ln>
        </p:spPr>
      </p:sp>
      <p:sp>
        <p:nvSpPr>
          <p:cNvPr id="7" name="Text 5"/>
          <p:cNvSpPr txBox="1"/>
          <p:nvPr/>
        </p:nvSpPr>
        <p:spPr>
          <a:xfrm>
            <a:off x="4937760" y="1325880"/>
            <a:ext cx="3474720" cy="457200"/>
          </a:xfrm>
          <a:prstGeom prst="rect">
            <a:avLst/>
          </a:prstGeom>
          <a:noFill/>
          <a:ln/>
        </p:spPr>
        <p:txBody>
          <a:bodyPr wrap="square" lIns="0" tIns="0" rIns="0" bIns="0" rtlCol="0" anchor="ctr"/>
          <a:lstStyle/>
          <a:p>
            <a:pPr indent="0" marL="0">
              <a:buNone/>
            </a:pPr>
            <a:r>
              <a:rPr lang="en-US" sz="1800" b="1" dirty="0">
                <a:solidFill>
                  <a:srgbClr val="D9A21B"/>
                </a:solidFill>
                <a:latin typeface="Cambria" pitchFamily="34" charset="0"/>
                <a:ea typeface="Cambria" pitchFamily="34" charset="-122"/>
                <a:cs typeface="Cambria" pitchFamily="34" charset="-120"/>
              </a:rPr>
              <a:t>EAR y UL</a:t>
            </a:r>
            <a:endParaRPr lang="en-US" sz="1800" dirty="0"/>
          </a:p>
        </p:txBody>
      </p:sp>
      <p:sp>
        <p:nvSpPr>
          <p:cNvPr id="8" name="Text 6"/>
          <p:cNvSpPr txBox="1"/>
          <p:nvPr/>
        </p:nvSpPr>
        <p:spPr>
          <a:xfrm>
            <a:off x="4937760" y="1874520"/>
            <a:ext cx="34747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Ingestas diarias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mg por día</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Se comparan con la ingesta total resultante</a:t>
            </a:r>
            <a:endParaRPr lang="en-US" sz="1400" dirty="0"/>
          </a:p>
        </p:txBody>
      </p:sp>
      <p:sp>
        <p:nvSpPr>
          <p:cNvPr id="9" name="Text 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200" i="1" dirty="0">
                <a:solidFill>
                  <a:srgbClr val="5B6B72"/>
                </a:solidFill>
                <a:latin typeface="Calibri" pitchFamily="34" charset="0"/>
                <a:ea typeface="Calibri" pitchFamily="34" charset="-122"/>
                <a:cs typeface="Calibri" pitchFamily="34" charset="-120"/>
              </a:rPr>
              <a:t>Ingesta total = ingesta sin fortificar + nivel de fortificación × consumo del vehículo.</a:t>
            </a:r>
            <a:endParaRPr lang="en-US" sz="1200" dirty="0"/>
          </a:p>
        </p:txBody>
      </p:sp>
      <p:sp>
        <p:nvSpPr>
          <p:cNvPr id="10" name="Text 8"/>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Módulo 15 · Nivel factible de fortificación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B3C49"/>
                </a:solidFill>
                <a:latin typeface="Cambria" pitchFamily="34" charset="0"/>
                <a:ea typeface="Cambria" pitchFamily="34" charset="-122"/>
                <a:cs typeface="Cambria" pitchFamily="34" charset="-120"/>
              </a:rPr>
              <a:t>La meta nutricional</a:t>
            </a:r>
            <a:endParaRPr lang="en-US" sz="2800" dirty="0"/>
          </a:p>
        </p:txBody>
      </p:sp>
      <p:sp>
        <p:nvSpPr>
          <p:cNvPr id="3" name="Shape 1"/>
          <p:cNvSpPr/>
          <p:nvPr/>
        </p:nvSpPr>
        <p:spPr>
          <a:xfrm>
            <a:off x="457200" y="1188720"/>
            <a:ext cx="3931920" cy="3291840"/>
          </a:xfrm>
          <a:prstGeom prst="rect">
            <a:avLst/>
          </a:prstGeom>
          <a:solidFill>
            <a:srgbClr val="EEF4F5"/>
          </a:solidFill>
          <a:ln w="12700">
            <a:solidFill>
              <a:srgbClr val="EEF4F5"/>
            </a:solidFill>
            <a:prstDash val="solid"/>
          </a:ln>
        </p:spPr>
      </p:sp>
      <p:sp>
        <p:nvSpPr>
          <p:cNvPr id="4" name="Text 2"/>
          <p:cNvSpPr txBox="1"/>
          <p:nvPr/>
        </p:nvSpPr>
        <p:spPr>
          <a:xfrm>
            <a:off x="731520" y="1417320"/>
            <a:ext cx="3429000" cy="283464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Grupos de riesgo</a:t>
            </a:r>
            <a:endParaRPr lang="en-US" sz="1400" dirty="0"/>
          </a:p>
          <a:p>
            <a:pPr indent="0" marL="0">
              <a:buNone/>
            </a:pPr>
            <a:r>
              <a:rPr lang="en-US" sz="1500" dirty="0">
                <a:solidFill>
                  <a:srgbClr val="1F2A30"/>
                </a:solidFill>
                <a:latin typeface="Calibri" pitchFamily="34" charset="0"/>
                <a:ea typeface="Calibri" pitchFamily="34" charset="-122"/>
                <a:cs typeface="Calibri" pitchFamily="34" charset="-120"/>
              </a:rPr>
              <a:t>La meta se define sobre la distribución de su ingesta habitual; para el hierro, con el enfoque probabilístico.</a:t>
            </a:r>
            <a:endParaRPr lang="en-US" sz="1400" dirty="0"/>
          </a:p>
        </p:txBody>
      </p:sp>
      <p:sp>
        <p:nvSpPr>
          <p:cNvPr id="5" name="Text 3"/>
          <p:cNvSpPr txBox="1"/>
          <p:nvPr/>
        </p:nvSpPr>
        <p:spPr>
          <a:xfrm>
            <a:off x="4754880" y="1280160"/>
            <a:ext cx="3931920" cy="2194560"/>
          </a:xfrm>
          <a:prstGeom prst="rect">
            <a:avLst/>
          </a:prstGeom>
          <a:noFill/>
          <a:ln/>
        </p:spPr>
        <p:txBody>
          <a:bodyPr wrap="square" lIns="0" tIns="0" rIns="0" bIns="0" rtlCol="0" anchor="ctr"/>
          <a:lstStyle/>
          <a:p>
            <a:pPr indent="0" marL="0">
              <a:buNone/>
            </a:pPr>
            <a:r>
              <a:rPr lang="en-US" sz="2000" i="1" dirty="0">
                <a:solidFill>
                  <a:srgbClr val="0B3C49"/>
                </a:solidFill>
                <a:latin typeface="Cambria" pitchFamily="34" charset="0"/>
                <a:ea typeface="Cambria" pitchFamily="34" charset="-122"/>
                <a:cs typeface="Cambria" pitchFamily="34" charset="-120"/>
              </a:rPr>
              <a:t>Que solo una proporción pequeña, del orden del 2–3 %, quede con ingesta inferior al EAR.</a:t>
            </a:r>
            <a:endParaRPr lang="en-US" sz="2000" dirty="0"/>
          </a:p>
        </p:txBody>
      </p:sp>
      <p:sp>
        <p:nvSpPr>
          <p:cNvPr id="6" name="Text 4"/>
          <p:cNvSpPr txBox="1"/>
          <p:nvPr/>
        </p:nvSpPr>
        <p:spPr>
          <a:xfrm>
            <a:off x="4754880" y="3566160"/>
            <a:ext cx="3931920" cy="914400"/>
          </a:xfrm>
          <a:prstGeom prst="rect">
            <a:avLst/>
          </a:prstGeom>
          <a:noFill/>
          <a:ln/>
        </p:spPr>
        <p:txBody>
          <a:bodyPr wrap="square" lIns="0" tIns="0" rIns="0" bIns="0" rtlCol="0" anchor="t"/>
          <a:lstStyle/>
          <a:p>
            <a:pPr indent="0" marL="0">
              <a:buNone/>
            </a:pPr>
            <a:r>
              <a:rPr lang="en-US" sz="1300" dirty="0">
                <a:solidFill>
                  <a:srgbClr val="5B6B72"/>
                </a:solidFill>
                <a:latin typeface="Calibri" pitchFamily="34" charset="0"/>
                <a:ea typeface="Calibri" pitchFamily="34" charset="-122"/>
                <a:cs typeface="Calibri" pitchFamily="34" charset="-120"/>
              </a:rPr>
              <a:t>Se evalúa en quienes consumen poco o una cantidad típica del vehículo: si ellos alcanzan la meta, la alcanza el grupo.</a:t>
            </a:r>
            <a:endParaRPr lang="en-US" sz="1300" dirty="0"/>
          </a:p>
        </p:txBody>
      </p:sp>
      <p:sp>
        <p:nvSpPr>
          <p:cNvPr id="7" name="Text 5"/>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Módulo 15 · Nivel factible de fortificación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B3C49"/>
                </a:solidFill>
                <a:latin typeface="Cambria" pitchFamily="34" charset="0"/>
                <a:ea typeface="Cambria" pitchFamily="34" charset="-122"/>
                <a:cs typeface="Cambria" pitchFamily="34" charset="-120"/>
              </a:rPr>
              <a:t>Tres límites</a:t>
            </a:r>
            <a:endParaRPr lang="en-US" sz="2800" dirty="0"/>
          </a:p>
        </p:txBody>
      </p:sp>
      <p:sp>
        <p:nvSpPr>
          <p:cNvPr id="3" name="Shape 1"/>
          <p:cNvSpPr/>
          <p:nvPr/>
        </p:nvSpPr>
        <p:spPr>
          <a:xfrm>
            <a:off x="457200" y="1234440"/>
            <a:ext cx="2590800" cy="3108960"/>
          </a:xfrm>
          <a:prstGeom prst="rect">
            <a:avLst/>
          </a:prstGeom>
          <a:solidFill>
            <a:srgbClr val="0B3C49"/>
          </a:solidFill>
          <a:ln w="12700">
            <a:solidFill>
              <a:srgbClr val="0B3C49"/>
            </a:solidFill>
            <a:prstDash val="solid"/>
          </a:ln>
        </p:spPr>
      </p:sp>
      <p:sp>
        <p:nvSpPr>
          <p:cNvPr id="4" name="Text 2"/>
          <p:cNvSpPr txBox="1"/>
          <p:nvPr/>
        </p:nvSpPr>
        <p:spPr>
          <a:xfrm>
            <a:off x="685800" y="1417320"/>
            <a:ext cx="2133600" cy="868680"/>
          </a:xfrm>
          <a:prstGeom prst="rect">
            <a:avLst/>
          </a:prstGeom>
          <a:noFill/>
          <a:ln/>
        </p:spPr>
        <p:txBody>
          <a:bodyPr wrap="square" lIns="0" tIns="0" rIns="0" bIns="0" rtlCol="0" anchor="t"/>
          <a:lstStyle/>
          <a:p>
            <a:pPr indent="0" marL="0">
              <a:buNone/>
            </a:pPr>
            <a:r>
              <a:rPr lang="en-US" sz="2200" b="1" dirty="0">
                <a:solidFill>
                  <a:srgbClr val="D9A21B"/>
                </a:solidFill>
                <a:latin typeface="Cambria" pitchFamily="34" charset="0"/>
                <a:ea typeface="Cambria" pitchFamily="34" charset="-122"/>
                <a:cs typeface="Cambria" pitchFamily="34" charset="-120"/>
              </a:rPr>
              <a:t>Inocuidad</a:t>
            </a:r>
            <a:endParaRPr lang="en-US" sz="2200" dirty="0"/>
          </a:p>
        </p:txBody>
      </p:sp>
      <p:sp>
        <p:nvSpPr>
          <p:cNvPr id="5" name="Text 3"/>
          <p:cNvSpPr txBox="1"/>
          <p:nvPr/>
        </p:nvSpPr>
        <p:spPr>
          <a:xfrm>
            <a:off x="685800" y="2423160"/>
            <a:ext cx="2133600" cy="17830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Los grandes consumidores del vehículo, por ejemplo el percentil 95, no deben superar el UL.</a:t>
            </a:r>
            <a:endParaRPr lang="en-US" sz="1300" dirty="0"/>
          </a:p>
        </p:txBody>
      </p:sp>
      <p:sp>
        <p:nvSpPr>
          <p:cNvPr id="6" name="Shape 4"/>
          <p:cNvSpPr/>
          <p:nvPr/>
        </p:nvSpPr>
        <p:spPr>
          <a:xfrm>
            <a:off x="3276600" y="1234440"/>
            <a:ext cx="2590800" cy="3108960"/>
          </a:xfrm>
          <a:prstGeom prst="rect">
            <a:avLst/>
          </a:prstGeom>
          <a:solidFill>
            <a:srgbClr val="EEF4F5"/>
          </a:solidFill>
          <a:ln w="12700">
            <a:solidFill>
              <a:srgbClr val="EEF4F5"/>
            </a:solidFill>
            <a:prstDash val="solid"/>
          </a:ln>
        </p:spPr>
      </p:sp>
      <p:sp>
        <p:nvSpPr>
          <p:cNvPr id="7" name="Text 5"/>
          <p:cNvSpPr txBox="1"/>
          <p:nvPr/>
        </p:nvSpPr>
        <p:spPr>
          <a:xfrm>
            <a:off x="3505200" y="1417320"/>
            <a:ext cx="2133600" cy="868680"/>
          </a:xfrm>
          <a:prstGeom prst="rect">
            <a:avLst/>
          </a:prstGeom>
          <a:noFill/>
          <a:ln/>
        </p:spPr>
        <p:txBody>
          <a:bodyPr wrap="square" lIns="0" tIns="0" rIns="0" bIns="0" rtlCol="0" anchor="t"/>
          <a:lstStyle/>
          <a:p>
            <a:pPr indent="0" marL="0">
              <a:buNone/>
            </a:pPr>
            <a:r>
              <a:rPr lang="en-US" sz="2200" b="1" dirty="0">
                <a:solidFill>
                  <a:srgbClr val="0B3C49"/>
                </a:solidFill>
                <a:latin typeface="Cambria" pitchFamily="34" charset="0"/>
                <a:ea typeface="Cambria" pitchFamily="34" charset="-122"/>
                <a:cs typeface="Cambria" pitchFamily="34" charset="-120"/>
              </a:rPr>
              <a:t>Tecnológico</a:t>
            </a:r>
            <a:endParaRPr lang="en-US" sz="2200" dirty="0"/>
          </a:p>
        </p:txBody>
      </p:sp>
      <p:sp>
        <p:nvSpPr>
          <p:cNvPr id="8" name="Text 6"/>
          <p:cNvSpPr txBox="1"/>
          <p:nvPr/>
        </p:nvSpPr>
        <p:spPr>
          <a:xfrm>
            <a:off x="3505200" y="2423160"/>
            <a:ext cx="2133600" cy="178308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Sin cambios adversos de color, sabor, olor o textura, ni degradación.</a:t>
            </a:r>
            <a:endParaRPr lang="en-US" sz="1300" dirty="0"/>
          </a:p>
        </p:txBody>
      </p:sp>
      <p:sp>
        <p:nvSpPr>
          <p:cNvPr id="9" name="Shape 7"/>
          <p:cNvSpPr/>
          <p:nvPr/>
        </p:nvSpPr>
        <p:spPr>
          <a:xfrm>
            <a:off x="6096000" y="1234440"/>
            <a:ext cx="2590800" cy="3108960"/>
          </a:xfrm>
          <a:prstGeom prst="rect">
            <a:avLst/>
          </a:prstGeom>
          <a:solidFill>
            <a:srgbClr val="EEF4F5"/>
          </a:solidFill>
          <a:ln w="12700">
            <a:solidFill>
              <a:srgbClr val="EEF4F5"/>
            </a:solidFill>
            <a:prstDash val="solid"/>
          </a:ln>
        </p:spPr>
      </p:sp>
      <p:sp>
        <p:nvSpPr>
          <p:cNvPr id="10" name="Text 8"/>
          <p:cNvSpPr txBox="1"/>
          <p:nvPr/>
        </p:nvSpPr>
        <p:spPr>
          <a:xfrm>
            <a:off x="6324600" y="1417320"/>
            <a:ext cx="2133600" cy="868680"/>
          </a:xfrm>
          <a:prstGeom prst="rect">
            <a:avLst/>
          </a:prstGeom>
          <a:noFill/>
          <a:ln/>
        </p:spPr>
        <p:txBody>
          <a:bodyPr wrap="square" lIns="0" tIns="0" rIns="0" bIns="0" rtlCol="0" anchor="t"/>
          <a:lstStyle/>
          <a:p>
            <a:pPr indent="0" marL="0">
              <a:buNone/>
            </a:pPr>
            <a:r>
              <a:rPr lang="en-US" sz="2200" b="1" dirty="0">
                <a:solidFill>
                  <a:srgbClr val="0B3C49"/>
                </a:solidFill>
                <a:latin typeface="Cambria" pitchFamily="34" charset="0"/>
                <a:ea typeface="Cambria" pitchFamily="34" charset="-122"/>
                <a:cs typeface="Cambria" pitchFamily="34" charset="-120"/>
              </a:rPr>
              <a:t>Costo</a:t>
            </a:r>
            <a:endParaRPr lang="en-US" sz="2200" dirty="0"/>
          </a:p>
        </p:txBody>
      </p:sp>
      <p:sp>
        <p:nvSpPr>
          <p:cNvPr id="11" name="Text 9"/>
          <p:cNvSpPr txBox="1"/>
          <p:nvPr/>
        </p:nvSpPr>
        <p:spPr>
          <a:xfrm>
            <a:off x="6324600" y="2423160"/>
            <a:ext cx="2133600" cy="178308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Aumento de precio aceptable para la industria y los consumidores.</a:t>
            </a:r>
            <a:endParaRPr lang="en-US" sz="1300" dirty="0"/>
          </a:p>
        </p:txBody>
      </p:sp>
      <p:sp>
        <p:nvSpPr>
          <p:cNvPr id="12" name="Text 10"/>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Módulo 15 · Nivel factible de fortificación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B3C49"/>
                </a:solidFill>
                <a:latin typeface="Cambria" pitchFamily="34" charset="0"/>
                <a:ea typeface="Cambria" pitchFamily="34" charset="-122"/>
                <a:cs typeface="Cambria" pitchFamily="34" charset="-120"/>
              </a:rPr>
              <a:t>Regla de decisión</a:t>
            </a:r>
            <a:endParaRPr lang="en-US" sz="2800" dirty="0"/>
          </a:p>
        </p:txBody>
      </p:sp>
      <p:sp>
        <p:nvSpPr>
          <p:cNvPr id="3" name="Shape 1"/>
          <p:cNvSpPr/>
          <p:nvPr/>
        </p:nvSpPr>
        <p:spPr>
          <a:xfrm>
            <a:off x="457200" y="1234440"/>
            <a:ext cx="8229600" cy="1188720"/>
          </a:xfrm>
          <a:prstGeom prst="rect">
            <a:avLst/>
          </a:prstGeom>
          <a:solidFill>
            <a:srgbClr val="0B3C49"/>
          </a:solidFill>
          <a:ln w="12700">
            <a:solidFill>
              <a:srgbClr val="0B3C49"/>
            </a:solidFill>
            <a:prstDash val="solid"/>
          </a:ln>
        </p:spPr>
      </p:sp>
      <p:sp>
        <p:nvSpPr>
          <p:cNvPr id="4" name="Text 2"/>
          <p:cNvSpPr txBox="1"/>
          <p:nvPr/>
        </p:nvSpPr>
        <p:spPr>
          <a:xfrm>
            <a:off x="731520" y="1234440"/>
            <a:ext cx="7680960" cy="1188720"/>
          </a:xfrm>
          <a:prstGeom prst="rect">
            <a:avLst/>
          </a:prstGeom>
          <a:noFill/>
          <a:ln/>
        </p:spPr>
        <p:txBody>
          <a:bodyPr wrap="square" lIns="0" tIns="0" rIns="0" bIns="0" rtlCol="0" anchor="ctr"/>
          <a:lstStyle/>
          <a:p>
            <a:pPr algn="ctr" indent="0" marL="0">
              <a:buNone/>
            </a:pPr>
            <a:r>
              <a:rPr lang="en-US" sz="2000" dirty="0">
                <a:solidFill>
                  <a:srgbClr val="FFFFFF"/>
                </a:solidFill>
                <a:latin typeface="Cambria" pitchFamily="34" charset="0"/>
                <a:ea typeface="Cambria" pitchFamily="34" charset="-122"/>
                <a:cs typeface="Cambria" pitchFamily="34" charset="-120"/>
              </a:rPr>
              <a:t>FFL  =  el menor de los niveles máximos por inocuidad, tecnología y costo</a:t>
            </a:r>
            <a:endParaRPr lang="en-US" sz="2000" dirty="0"/>
          </a:p>
        </p:txBody>
      </p:sp>
      <p:sp>
        <p:nvSpPr>
          <p:cNvPr id="5" name="Text 3"/>
          <p:cNvSpPr txBox="1"/>
          <p:nvPr/>
        </p:nvSpPr>
        <p:spPr>
          <a:xfrm>
            <a:off x="548640" y="2697480"/>
            <a:ext cx="804672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Si el FFL alcanza la meta, el vehículo es suficiente.</a:t>
            </a:r>
            <a:endParaRPr lang="en-US" sz="1400" dirty="0"/>
          </a:p>
          <a:p>
            <a:pPr marL="342900" indent="-3429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Si no la alcanza, se documenta la brecha y se consideran otros vehículos o la suplementación dirigida.</a:t>
            </a:r>
            <a:endParaRPr lang="en-US" sz="1400" dirty="0"/>
          </a:p>
        </p:txBody>
      </p:sp>
      <p:sp>
        <p:nvSpPr>
          <p:cNvPr id="6" name="Text 4"/>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Módulo 15 · Nivel factible de fortificación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B3C49"/>
                </a:solidFill>
                <a:latin typeface="Cambria" pitchFamily="34" charset="0"/>
                <a:ea typeface="Cambria" pitchFamily="34" charset="-122"/>
                <a:cs typeface="Cambria" pitchFamily="34" charset="-120"/>
              </a:rPr>
              <a:t>Biodisponibilidad y pérdidas</a:t>
            </a:r>
            <a:endParaRPr lang="en-US" sz="2800" dirty="0"/>
          </a:p>
        </p:txBody>
      </p:sp>
      <p:sp>
        <p:nvSpPr>
          <p:cNvPr id="3" name="Text 1"/>
          <p:cNvSpPr txBox="1"/>
          <p:nvPr/>
        </p:nvSpPr>
        <p:spPr>
          <a:xfrm>
            <a:off x="457200" y="1234440"/>
            <a:ext cx="4023360" cy="2926080"/>
          </a:xfrm>
          <a:prstGeom prst="rect">
            <a:avLst/>
          </a:prstGeom>
          <a:noFill/>
          <a:ln/>
        </p:spPr>
        <p:txBody>
          <a:bodyPr wrap="square" lIns="0" tIns="0" rIns="0" bIns="0" rtlCol="0" anchor="t"/>
          <a:lstStyle/>
          <a:p>
            <a:pPr indent="0" marL="0">
              <a:buNone/>
            </a:pPr>
            <a:r>
              <a:rPr lang="en-US" sz="1600" dirty="0">
                <a:solidFill>
                  <a:srgbClr val="1F2A30"/>
                </a:solidFill>
                <a:latin typeface="Calibri" pitchFamily="34" charset="0"/>
                <a:ea typeface="Calibri" pitchFamily="34" charset="-122"/>
                <a:cs typeface="Calibri" pitchFamily="34" charset="-120"/>
              </a:rPr>
              <a:t>El EAR ya incorpora la biodisponibilidad de la dieta habitual. Solo se ajusta cuando el compuesto añadido se absorbe de forma distinta. Las pérdidas se compensan con un excedente dentro del margen de inocuidad.</a:t>
            </a:r>
            <a:endParaRPr lang="en-US" sz="1600" dirty="0"/>
          </a:p>
        </p:txBody>
      </p:sp>
      <p:sp>
        <p:nvSpPr>
          <p:cNvPr id="4" name="Shape 2"/>
          <p:cNvSpPr/>
          <p:nvPr/>
        </p:nvSpPr>
        <p:spPr>
          <a:xfrm>
            <a:off x="4846320" y="1234440"/>
            <a:ext cx="3840480" cy="3017520"/>
          </a:xfrm>
          <a:prstGeom prst="rect">
            <a:avLst/>
          </a:prstGeom>
          <a:solidFill>
            <a:srgbClr val="0B3C49"/>
          </a:solidFill>
          <a:ln w="12700">
            <a:solidFill>
              <a:srgbClr val="0B3C49"/>
            </a:solidFill>
            <a:prstDash val="solid"/>
          </a:ln>
        </p:spPr>
      </p:sp>
      <p:sp>
        <p:nvSpPr>
          <p:cNvPr id="5" name="Text 3"/>
          <p:cNvSpPr txBox="1"/>
          <p:nvPr/>
        </p:nvSpPr>
        <p:spPr>
          <a:xfrm>
            <a:off x="5120640" y="1417320"/>
            <a:ext cx="3291840" cy="1188720"/>
          </a:xfrm>
          <a:prstGeom prst="rect">
            <a:avLst/>
          </a:prstGeom>
          <a:noFill/>
          <a:ln/>
        </p:spPr>
        <p:txBody>
          <a:bodyPr wrap="square" lIns="0" tIns="0" rIns="0" bIns="0" rtlCol="0" anchor="ctr"/>
          <a:lstStyle/>
          <a:p>
            <a:pPr indent="0" marL="0">
              <a:buNone/>
            </a:pPr>
            <a:r>
              <a:rPr lang="en-US" sz="5400" b="1" dirty="0">
                <a:solidFill>
                  <a:srgbClr val="D9A21B"/>
                </a:solidFill>
                <a:latin typeface="Cambria" pitchFamily="34" charset="0"/>
                <a:ea typeface="Cambria" pitchFamily="34" charset="-122"/>
                <a:cs typeface="Cambria" pitchFamily="34" charset="-120"/>
              </a:rPr>
              <a:t>×2</a:t>
            </a:r>
            <a:endParaRPr lang="en-US" sz="5400" dirty="0"/>
          </a:p>
        </p:txBody>
      </p:sp>
      <p:sp>
        <p:nvSpPr>
          <p:cNvPr id="6" name="Text 4"/>
          <p:cNvSpPr txBox="1"/>
          <p:nvPr/>
        </p:nvSpPr>
        <p:spPr>
          <a:xfrm>
            <a:off x="5120640" y="2651760"/>
            <a:ext cx="3291840" cy="14630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El hierro electrolítico se añade en una cantidad del orden del doble que el sulfato ferroso para un aporte equivalente.</a:t>
            </a:r>
            <a:endParaRPr lang="en-US" sz="1400" dirty="0"/>
          </a:p>
        </p:txBody>
      </p:sp>
      <p:sp>
        <p:nvSpPr>
          <p:cNvPr id="7" name="Text 5"/>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Módulo 15 · Nivel factible de fortificación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B3C49"/>
                </a:solidFill>
                <a:latin typeface="Cambria" pitchFamily="34" charset="0"/>
                <a:ea typeface="Cambria" pitchFamily="34" charset="-122"/>
                <a:cs typeface="Cambria" pitchFamily="34" charset="-120"/>
              </a:rPr>
              <a:t>Del nivel factible a la norma</a:t>
            </a:r>
            <a:endParaRPr lang="en-US" sz="2800" dirty="0"/>
          </a:p>
        </p:txBody>
      </p:sp>
      <p:sp>
        <p:nvSpPr>
          <p:cNvPr id="3" name="Shape 1"/>
          <p:cNvSpPr/>
          <p:nvPr/>
        </p:nvSpPr>
        <p:spPr>
          <a:xfrm>
            <a:off x="457200" y="1280160"/>
            <a:ext cx="1920240" cy="3017520"/>
          </a:xfrm>
          <a:prstGeom prst="rect">
            <a:avLst/>
          </a:prstGeom>
          <a:solidFill>
            <a:srgbClr val="EEF4F5"/>
          </a:solidFill>
          <a:ln w="12700">
            <a:solidFill>
              <a:srgbClr val="EEF4F5"/>
            </a:solidFill>
            <a:prstDash val="solid"/>
          </a:ln>
        </p:spPr>
      </p:sp>
      <p:sp>
        <p:nvSpPr>
          <p:cNvPr id="4" name="Text 2"/>
          <p:cNvSpPr txBox="1"/>
          <p:nvPr/>
        </p:nvSpPr>
        <p:spPr>
          <a:xfrm>
            <a:off x="640080" y="1417320"/>
            <a:ext cx="91440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640080" y="2194560"/>
            <a:ext cx="1600200" cy="201168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Nivel factible de fortificación.</a:t>
            </a:r>
            <a:endParaRPr lang="en-US" sz="1300" dirty="0"/>
          </a:p>
        </p:txBody>
      </p:sp>
      <p:sp>
        <p:nvSpPr>
          <p:cNvPr id="6" name="Shape 4"/>
          <p:cNvSpPr/>
          <p:nvPr/>
        </p:nvSpPr>
        <p:spPr>
          <a:xfrm>
            <a:off x="2560320" y="1280160"/>
            <a:ext cx="1920240" cy="3017520"/>
          </a:xfrm>
          <a:prstGeom prst="rect">
            <a:avLst/>
          </a:prstGeom>
          <a:solidFill>
            <a:srgbClr val="EEF4F5"/>
          </a:solidFill>
          <a:ln w="12700">
            <a:solidFill>
              <a:srgbClr val="EEF4F5"/>
            </a:solidFill>
            <a:prstDash val="solid"/>
          </a:ln>
        </p:spPr>
      </p:sp>
      <p:sp>
        <p:nvSpPr>
          <p:cNvPr id="7" name="Text 5"/>
          <p:cNvSpPr txBox="1"/>
          <p:nvPr/>
        </p:nvSpPr>
        <p:spPr>
          <a:xfrm>
            <a:off x="2743200" y="1417320"/>
            <a:ext cx="91440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2</a:t>
            </a:r>
            <a:endParaRPr lang="en-US" sz="3600" dirty="0"/>
          </a:p>
        </p:txBody>
      </p:sp>
      <p:sp>
        <p:nvSpPr>
          <p:cNvPr id="8" name="Text 6"/>
          <p:cNvSpPr txBox="1"/>
          <p:nvPr/>
        </p:nvSpPr>
        <p:spPr>
          <a:xfrm>
            <a:off x="2743200" y="2194560"/>
            <a:ext cx="1600200" cy="201168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Contenidos de producción: promedio, mínimo y máximo según la variación del proceso.</a:t>
            </a:r>
            <a:endParaRPr lang="en-US" sz="1300" dirty="0"/>
          </a:p>
        </p:txBody>
      </p:sp>
      <p:sp>
        <p:nvSpPr>
          <p:cNvPr id="9" name="Shape 7"/>
          <p:cNvSpPr/>
          <p:nvPr/>
        </p:nvSpPr>
        <p:spPr>
          <a:xfrm>
            <a:off x="4663440" y="1280160"/>
            <a:ext cx="1920240" cy="3017520"/>
          </a:xfrm>
          <a:prstGeom prst="rect">
            <a:avLst/>
          </a:prstGeom>
          <a:solidFill>
            <a:srgbClr val="EEF4F5"/>
          </a:solidFill>
          <a:ln w="12700">
            <a:solidFill>
              <a:srgbClr val="EEF4F5"/>
            </a:solidFill>
            <a:prstDash val="solid"/>
          </a:ln>
        </p:spPr>
      </p:sp>
      <p:sp>
        <p:nvSpPr>
          <p:cNvPr id="10" name="Text 8"/>
          <p:cNvSpPr txBox="1"/>
          <p:nvPr/>
        </p:nvSpPr>
        <p:spPr>
          <a:xfrm>
            <a:off x="4846320" y="1417320"/>
            <a:ext cx="91440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3</a:t>
            </a:r>
            <a:endParaRPr lang="en-US" sz="3600" dirty="0"/>
          </a:p>
        </p:txBody>
      </p:sp>
      <p:sp>
        <p:nvSpPr>
          <p:cNvPr id="11" name="Text 9"/>
          <p:cNvSpPr txBox="1"/>
          <p:nvPr/>
        </p:nvSpPr>
        <p:spPr>
          <a:xfrm>
            <a:off x="4846320" y="2194560"/>
            <a:ext cx="1600200" cy="201168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Parámetros regulatorios, descontando la degradación en la comercialización.</a:t>
            </a:r>
            <a:endParaRPr lang="en-US" sz="1300" dirty="0"/>
          </a:p>
        </p:txBody>
      </p:sp>
      <p:sp>
        <p:nvSpPr>
          <p:cNvPr id="12" name="Shape 10"/>
          <p:cNvSpPr/>
          <p:nvPr/>
        </p:nvSpPr>
        <p:spPr>
          <a:xfrm>
            <a:off x="6766560" y="1280160"/>
            <a:ext cx="1920240" cy="3017520"/>
          </a:xfrm>
          <a:prstGeom prst="rect">
            <a:avLst/>
          </a:prstGeom>
          <a:solidFill>
            <a:srgbClr val="0B3C49"/>
          </a:solidFill>
          <a:ln w="12700">
            <a:solidFill>
              <a:srgbClr val="0B3C49"/>
            </a:solidFill>
            <a:prstDash val="solid"/>
          </a:ln>
        </p:spPr>
      </p:sp>
      <p:sp>
        <p:nvSpPr>
          <p:cNvPr id="13" name="Text 11"/>
          <p:cNvSpPr txBox="1"/>
          <p:nvPr/>
        </p:nvSpPr>
        <p:spPr>
          <a:xfrm>
            <a:off x="6949440" y="1417320"/>
            <a:ext cx="914400" cy="731520"/>
          </a:xfrm>
          <a:prstGeom prst="rect">
            <a:avLst/>
          </a:prstGeom>
          <a:noFill/>
          <a:ln/>
        </p:spPr>
        <p:txBody>
          <a:bodyPr wrap="square" lIns="0" tIns="0" rIns="0" bIns="0" rtlCol="0" anchor="ctr"/>
          <a:lstStyle/>
          <a:p>
            <a:pPr indent="0" marL="0">
              <a:buNone/>
            </a:pPr>
            <a:r>
              <a:rPr lang="en-US" sz="3600" b="1" dirty="0">
                <a:solidFill>
                  <a:srgbClr val="D9A21B"/>
                </a:solidFill>
                <a:latin typeface="Cambria" pitchFamily="34" charset="0"/>
                <a:ea typeface="Cambria" pitchFamily="34" charset="-122"/>
                <a:cs typeface="Cambria" pitchFamily="34" charset="-120"/>
              </a:rPr>
              <a:t>4</a:t>
            </a:r>
            <a:endParaRPr lang="en-US" sz="3600" dirty="0"/>
          </a:p>
        </p:txBody>
      </p:sp>
      <p:sp>
        <p:nvSpPr>
          <p:cNvPr id="14" name="Text 12"/>
          <p:cNvSpPr txBox="1"/>
          <p:nvPr/>
        </p:nvSpPr>
        <p:spPr>
          <a:xfrm>
            <a:off x="6949440" y="2194560"/>
            <a:ext cx="1600200" cy="2011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Verificación en la vigilancia regulatoria.</a:t>
            </a:r>
            <a:endParaRPr lang="en-US" sz="1300" dirty="0"/>
          </a:p>
        </p:txBody>
      </p:sp>
      <p:sp>
        <p:nvSpPr>
          <p:cNvPr id="15" name="Text 13"/>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Módulo 15 · Nivel factible de fortificación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Referencias</a:t>
            </a:r>
            <a:endParaRPr lang="en-US" sz="2800" dirty="0"/>
          </a:p>
        </p:txBody>
      </p:sp>
      <p:sp>
        <p:nvSpPr>
          <p:cNvPr id="3" name="Text 1"/>
          <p:cNvSpPr txBox="1"/>
          <p:nvPr/>
        </p:nvSpPr>
        <p:spPr>
          <a:xfrm>
            <a:off x="548640" y="1234440"/>
            <a:ext cx="8046720" cy="2377440"/>
          </a:xfrm>
          <a:prstGeom prst="rect">
            <a:avLst/>
          </a:prstGeom>
          <a:noFill/>
          <a:ln/>
        </p:spPr>
        <p:txBody>
          <a:bodyPr wrap="square" lIns="0" tIns="0" rIns="0" bIns="0" rtlCol="0" anchor="t"/>
          <a:lstStyle/>
          <a:p>
            <a:pPr indent="0" marL="0">
              <a:spcAft>
                <a:spcPts val="800"/>
              </a:spcAft>
              <a:buNone/>
            </a:pPr>
            <a:r>
              <a:rPr lang="en-US" sz="1300" dirty="0">
                <a:solidFill>
                  <a:srgbClr val="DCE7E9"/>
                </a:solidFill>
                <a:latin typeface="Calibri" pitchFamily="34" charset="0"/>
                <a:ea typeface="Calibri" pitchFamily="34" charset="-122"/>
                <a:cs typeface="Calibri" pitchFamily="34" charset="-120"/>
              </a:rPr>
              <a:t>Allen L, de Benoist B, Dary O, Hurrell R, editores. Guidelines on food fortification with micronutrients. Ginebra: OMS; FAO; 2006.</a:t>
            </a:r>
            <a:endParaRPr lang="en-US" sz="1300" dirty="0"/>
          </a:p>
          <a:p>
            <a:pPr indent="0" marL="0">
              <a:spcAft>
                <a:spcPts val="800"/>
              </a:spcAft>
              <a:buNone/>
            </a:pPr>
            <a:r>
              <a:rPr lang="en-US" sz="1300" dirty="0">
                <a:solidFill>
                  <a:srgbClr val="DCE7E9"/>
                </a:solidFill>
                <a:latin typeface="Calibri" pitchFamily="34" charset="0"/>
                <a:ea typeface="Calibri" pitchFamily="34" charset="-122"/>
                <a:cs typeface="Calibri" pitchFamily="34" charset="-120"/>
              </a:rPr>
              <a:t>Dary O. Establishing safe and potentially efficacious fortification contents for folic acid and vitamin B12. Food Nutr Bull. 2008;29(2 Suppl). doi:10.1177/15648265080292S126</a:t>
            </a:r>
            <a:endParaRPr lang="en-US" sz="1300" dirty="0"/>
          </a:p>
          <a:p>
            <a:pPr indent="0" marL="0">
              <a:spcAft>
                <a:spcPts val="800"/>
              </a:spcAft>
              <a:buNone/>
            </a:pPr>
            <a:r>
              <a:rPr lang="en-US" sz="1300" dirty="0">
                <a:solidFill>
                  <a:srgbClr val="DCE7E9"/>
                </a:solidFill>
                <a:latin typeface="Calibri" pitchFamily="34" charset="0"/>
                <a:ea typeface="Calibri" pitchFamily="34" charset="-122"/>
                <a:cs typeface="Calibri" pitchFamily="34" charset="-120"/>
              </a:rPr>
              <a:t>Dwyer JT, Wiemer KL, Dary O, et al. Fortification and health: challenges and opportunities. Adv Nutr. 2015;6(1):124-31.</a:t>
            </a:r>
            <a:endParaRPr lang="en-US" sz="1300" dirty="0"/>
          </a:p>
        </p:txBody>
      </p:sp>
      <p:sp>
        <p:nvSpPr>
          <p:cNvPr id="4" name="Text 2"/>
          <p:cNvSpPr txBox="1"/>
          <p:nvPr/>
        </p:nvSpPr>
        <p:spPr>
          <a:xfrm>
            <a:off x="548640" y="3840480"/>
            <a:ext cx="8046720" cy="457200"/>
          </a:xfrm>
          <a:prstGeom prst="rect">
            <a:avLst/>
          </a:prstGeom>
          <a:noFill/>
          <a:ln/>
        </p:spPr>
        <p:txBody>
          <a:bodyPr wrap="square" lIns="0" tIns="0" rIns="0" bIns="0" rtlCol="0" anchor="ctr"/>
          <a:lstStyle/>
          <a:p>
            <a:pPr indent="0" marL="0">
              <a:buNone/>
            </a:pPr>
            <a:r>
              <a:rPr lang="en-US" sz="1600" b="1" dirty="0">
                <a:solidFill>
                  <a:srgbClr val="D9A21B"/>
                </a:solidFill>
                <a:latin typeface="Calibri" pitchFamily="34" charset="0"/>
                <a:ea typeface="Calibri" pitchFamily="34" charset="-122"/>
                <a:cs typeface="Calibri" pitchFamily="34" charset="-120"/>
              </a:rPr>
              <a:t>Siguiente: Módulo 16 · Cálculo del nivel de fortificación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Nivel factible de fortificación: la metodología OMS/FAO</dc:title>
  <dc:subject>PptxGenJS Presentation</dc:subject>
  <dc:creator>PptxGenJS</dc:creator>
  <cp:lastModifiedBy>PptxGenJS</cp:lastModifiedBy>
  <cp:revision>1</cp:revision>
  <dcterms:created xsi:type="dcterms:W3CDTF">2026-09-27T02:58:40Z</dcterms:created>
  <dcterms:modified xsi:type="dcterms:W3CDTF">2026-09-27T02:58:40Z</dcterms:modified>
</cp:coreProperties>
</file>