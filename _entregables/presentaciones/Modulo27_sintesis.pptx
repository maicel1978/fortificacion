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3" r:id="rId14"/>
    <p:sldId id="264" r:id="rId15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C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0972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9A2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27 · UNIDAD 3.3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554480"/>
            <a:ext cx="7863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Herramientas de R III: análisis de encuestas con srvyr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20040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D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Módulos e-learning sobre cobertura, consumo y contribución de alimentos fortificados y fortificables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Objetivos de aprendizaje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457200" cy="457200"/>
          </a:xfrm>
          <a:prstGeom prst="ellipse">
            <a:avLst/>
          </a:prstGeom>
          <a:solidFill>
            <a:srgbClr val="0B3C49"/>
          </a:solidFill>
          <a:ln w="12700">
            <a:solidFill>
              <a:srgbClr val="0B3C49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 txBox="1"/>
          <p:nvPr/>
        </p:nvSpPr>
        <p:spPr>
          <a:xfrm>
            <a:off x="548640" y="1234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234440" y="1234440"/>
            <a:ext cx="7223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Declarar un diseño estratificado por conglomerados con factor de expansión.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548640" y="2286000"/>
            <a:ext cx="457200" cy="457200"/>
          </a:xfrm>
          <a:prstGeom prst="ellipse">
            <a:avLst/>
          </a:prstGeom>
          <a:solidFill>
            <a:srgbClr val="0B3C49"/>
          </a:solidFill>
          <a:ln w="12700">
            <a:solidFill>
              <a:srgbClr val="0B3C49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 txBox="1"/>
          <p:nvPr/>
        </p:nvSpPr>
        <p:spPr>
          <a:xfrm>
            <a:off x="548640" y="2286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2286000"/>
            <a:ext cx="7223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Estimar proporciones y medianas con su intervalo.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548640" y="3337560"/>
            <a:ext cx="457200" cy="457200"/>
          </a:xfrm>
          <a:prstGeom prst="ellipse">
            <a:avLst/>
          </a:prstGeom>
          <a:solidFill>
            <a:srgbClr val="0B3C49"/>
          </a:solidFill>
          <a:ln w="12700">
            <a:solidFill>
              <a:srgbClr val="0B3C49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 txBox="1"/>
          <p:nvPr/>
        </p:nvSpPr>
        <p:spPr>
          <a:xfrm>
            <a:off x="548640" y="3337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234440" y="3337560"/>
            <a:ext cx="7223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Juzgar la precisión de cada celda al desagregar.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27 · Encuestas con srvyr   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diseño de la ENGIH 2018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3931920" cy="3291840"/>
          </a:xfrm>
          <a:prstGeom prst="rect">
            <a:avLst/>
          </a:prstGeom>
          <a:solidFill>
            <a:srgbClr val="EEF4F5"/>
          </a:solidFill>
          <a:ln w="12700">
            <a:solidFill>
              <a:srgbClr val="EEF4F5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 txBox="1"/>
          <p:nvPr/>
        </p:nvSpPr>
        <p:spPr>
          <a:xfrm>
            <a:off x="731520" y="1417320"/>
            <a:ext cx="342900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Estratos y conglomerados</a:t>
            </a:r>
            <a:endParaRPr lang="en-US" sz="1400" dirty="0"/>
          </a:p>
          <a:p>
            <a:pPr indent="0" marL="0">
              <a:buNone/>
            </a:pPr>
            <a:r>
              <a:rPr lang="en-US" sz="15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estratos, 933 unidades primarias de muestreo y un factor de expansión por hogar.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4754880" y="1280160"/>
            <a:ext cx="39319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diseño es una propiedad del hogar, no de la persona.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4754880" y="3566160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 = TRUE: los identificadores de UPM se repiten entre estratos.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27 · Encuestas con srvyr   3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3C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Referencias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34440"/>
            <a:ext cx="8046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DC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Lumley T. Complex Surveys: A Guide to Analysis Using R. Wiley; 2010.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DC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Banco Central de la República Dominicana. Encuesta Nacional de Gastos e Ingresos de los Hogares 2018: principales resultados y síntesis metodológica. Santo Domingo; 2020.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A2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Siguiente: Módulo 28 · Mapas en R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 qué importa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3931920" cy="3291840"/>
          </a:xfrm>
          <a:prstGeom prst="rect">
            <a:avLst/>
          </a:prstGeom>
          <a:solidFill>
            <a:srgbClr val="EEF4F5"/>
          </a:solidFill>
          <a:ln w="12700">
            <a:solidFill>
              <a:srgbClr val="EEF4F5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 txBox="1"/>
          <p:nvPr/>
        </p:nvSpPr>
        <p:spPr>
          <a:xfrm>
            <a:off x="731520" y="1417320"/>
            <a:ext cx="342900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estándar</a:t>
            </a:r>
            <a:endParaRPr lang="en-US" sz="1400" dirty="0"/>
          </a:p>
          <a:p>
            <a:pPr indent="0" marL="0">
              <a:buNone/>
            </a:pPr>
            <a:r>
              <a:rPr lang="en-US" sz="15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Ignorar los conglomerados apenas cambia el punto estimado.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4754880" y="1280160"/>
            <a:ext cx="39319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Pero subestima el error estándar e intervalos salen demasiado estrechos.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4754880" y="3566160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estrato ni UPM, solo cabe ponderar y declararlo.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27 · Encuestas con srvyr   4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Dominios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3931920" cy="3291840"/>
          </a:xfrm>
          <a:prstGeom prst="rect">
            <a:avLst/>
          </a:prstGeom>
          <a:solidFill>
            <a:srgbClr val="EEF4F5"/>
          </a:solidFill>
          <a:ln w="12700">
            <a:solidFill>
              <a:srgbClr val="EEF4F5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 txBox="1"/>
          <p:nvPr/>
        </p:nvSpPr>
        <p:spPr>
          <a:xfrm>
            <a:off x="731520" y="1417320"/>
            <a:ext cx="342900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Precisión por celda</a:t>
            </a:r>
            <a:endParaRPr lang="en-US" sz="1400" dirty="0"/>
          </a:p>
          <a:p>
            <a:pPr indent="0" marL="0">
              <a:buNone/>
            </a:pPr>
            <a:r>
              <a:rPr lang="en-US" sz="15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Región y zona son dominios de estimación; la provincia no.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4754880" y="1280160"/>
            <a:ext cx="39319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Celda marcada si tiene menos de 50 hogares o semiamplitud mayor de 10 puntos.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4754880" y="3566160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 de folato: precisión suficiente en 22 de 32 provincias.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27 · Encuestas con srvyr   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Refinamientos del ajuste por equivalente de mujer adulta</dc:title>
  <dc:subject>PptxGenJS Presentation</dc:subject>
  <dc:creator>PptxGenJS</dc:creator>
  <cp:lastModifiedBy>PptxGenJS</cp:lastModifiedBy>
  <cp:revision>1</cp:revision>
  <dcterms:created xsi:type="dcterms:W3CDTF">2026-09-27T02:50:54Z</dcterms:created>
  <dcterms:modified xsi:type="dcterms:W3CDTF">2026-09-27T02:50:54Z</dcterms:modified>
</cp:coreProperties>
</file>